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kn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EDE8D-DEAC-4695-A239-B4A0F36C3531}" type="datetimeFigureOut">
              <a:rPr lang="kn-IN" smtClean="0"/>
              <a:t>23-01-26</a:t>
            </a:fld>
            <a:endParaRPr lang="k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k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24ECB-2647-4488-9754-083FE27E5833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462674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4ECB-2647-4488-9754-083FE27E5833}" type="slidenum">
              <a:rPr lang="kn-IN" smtClean="0"/>
              <a:t>3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851941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4ECB-2647-4488-9754-083FE27E5833}" type="slidenum">
              <a:rPr lang="kn-IN" smtClean="0"/>
              <a:t>13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1036969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4ECB-2647-4488-9754-083FE27E5833}" type="slidenum">
              <a:rPr lang="kn-IN" smtClean="0"/>
              <a:t>51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138843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1C066-1D9D-8582-DCE9-5A7C9E1C6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k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F52C8C-889E-B948-092D-0DBD7CF04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k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0E302-F835-F954-67FA-CA85C5D1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EFCC-BF51-4F69-9E57-5D149E48B357}" type="datetimeFigureOut">
              <a:rPr lang="kn-IN" smtClean="0"/>
              <a:t>23-01-26</a:t>
            </a:fld>
            <a:endParaRPr lang="k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A52BD-C6F1-6FF6-3387-46A808EB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21743-AEB6-2161-7B0E-15A65B59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A96F-6C4B-4AC3-9C13-7EE73803C2CE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01122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2B2C4-E3FC-0DA8-4670-93366BC2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k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E4676-8CD0-2FAF-C735-FD2E9479E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k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A5E24-DB3C-6614-E413-692AAF28A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EFCC-BF51-4F69-9E57-5D149E48B357}" type="datetimeFigureOut">
              <a:rPr lang="kn-IN" smtClean="0"/>
              <a:t>23-01-26</a:t>
            </a:fld>
            <a:endParaRPr lang="k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85F6F-4B9E-7C0E-792A-7B88CB697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8A9F6-1CE3-9DCB-985E-914DC079C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A96F-6C4B-4AC3-9C13-7EE73803C2CE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846953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108CA-AB87-1B4B-4743-7595774AD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B9454-857E-F0B9-93DB-0668D035F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64358-666A-635D-ED48-DA986A4B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EFCC-BF51-4F69-9E57-5D149E48B357}" type="datetimeFigureOut">
              <a:rPr lang="kn-IN" smtClean="0"/>
              <a:t>23-01-26</a:t>
            </a:fld>
            <a:endParaRPr lang="k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936CB-7661-B343-AA77-B090289C1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1ED13-0DD3-540F-40E1-9CD58EC4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A96F-6C4B-4AC3-9C13-7EE73803C2CE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405358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41DA-15B0-E9C0-42B2-71DB912F5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k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9D41C-CBC7-3648-51AF-BABCCC35D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k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773C4-05A6-FFE3-9915-81B056276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k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A4339-FAC9-3852-C914-147B889B0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EFCC-BF51-4F69-9E57-5D149E48B357}" type="datetimeFigureOut">
              <a:rPr lang="kn-IN" smtClean="0"/>
              <a:t>23-01-26</a:t>
            </a:fld>
            <a:endParaRPr lang="k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0AB64-A5E2-035F-FCDC-71197B226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F90E5-0373-31C2-F25F-76CE953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A96F-6C4B-4AC3-9C13-7EE73803C2CE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517420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B858-B791-112A-681E-8CF0C56A3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FEB09-B159-3E56-0BB9-401814508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69315-DAEE-26FF-960E-CA94D7C81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k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1B28A-784A-9734-0320-93747AAA9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5922FC-31B1-2F34-7F8A-E110EFAB2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k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974A57-9036-B14D-9360-289DE2BB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EFCC-BF51-4F69-9E57-5D149E48B357}" type="datetimeFigureOut">
              <a:rPr lang="kn-IN" smtClean="0"/>
              <a:t>23-01-26</a:t>
            </a:fld>
            <a:endParaRPr lang="k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A3336-526A-1D1B-3917-BE6BCDB4F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5250A-ACF4-6B4E-55FA-67B0CA3A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A96F-6C4B-4AC3-9C13-7EE73803C2CE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153579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0F50E-124A-652D-2176-C3207A8FB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k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41462-90CD-BAA5-AD50-60314F60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EFCC-BF51-4F69-9E57-5D149E48B357}" type="datetimeFigureOut">
              <a:rPr lang="kn-IN" smtClean="0"/>
              <a:t>23-01-26</a:t>
            </a:fld>
            <a:endParaRPr lang="k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A10EB-15B2-E496-3001-B3A51E5C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75A11-93EC-B1DC-F616-CFB94EE87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A96F-6C4B-4AC3-9C13-7EE73803C2CE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23989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EF8D03-3573-4838-5746-4DAA6282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EFCC-BF51-4F69-9E57-5D149E48B357}" type="datetimeFigureOut">
              <a:rPr lang="kn-IN" smtClean="0"/>
              <a:t>23-01-26</a:t>
            </a:fld>
            <a:endParaRPr lang="k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B83A3-5441-FEDB-664D-9FD2A9C0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7080F-765F-2373-16BC-9B5F47ED1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A96F-6C4B-4AC3-9C13-7EE73803C2CE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225145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C1418-F187-E1F0-6955-E06C3000A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k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8CB7E-C61C-191F-C182-9DF7C3A47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k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69965-9070-93E1-2C4F-2F06585B7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A038A-FE68-8E1D-08E1-803887665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EFCC-BF51-4F69-9E57-5D149E48B357}" type="datetimeFigureOut">
              <a:rPr lang="kn-IN" smtClean="0"/>
              <a:t>23-01-26</a:t>
            </a:fld>
            <a:endParaRPr lang="k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CA96E-B8A9-47C9-B77E-0025C061F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89D5D-0B05-1C1E-D35F-65EC9EFCF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A96F-6C4B-4AC3-9C13-7EE73803C2CE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2648206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A4CCA-EC7B-35D4-27F5-94FCCF3FA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k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4E98D0-8303-C543-9CFE-CADCBD1663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5AD61-464D-ADFF-E49E-DA7D37932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F99E9-DFA8-661F-CA6B-626A4E801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EFCC-BF51-4F69-9E57-5D149E48B357}" type="datetimeFigureOut">
              <a:rPr lang="kn-IN" smtClean="0"/>
              <a:t>23-01-26</a:t>
            </a:fld>
            <a:endParaRPr lang="k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5DE8E-549F-9EC3-5DD7-0D677E646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2ACE8-6C21-5568-8DA6-E01D352D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A96F-6C4B-4AC3-9C13-7EE73803C2CE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267111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D3D9B-3208-0A8E-96A2-D8E4CF27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k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2CBA7-CC7E-E6EA-38EC-EEF54C308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k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EB5F-D1FB-2BDB-6C4D-17BAE312F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EFCC-BF51-4F69-9E57-5D149E48B357}" type="datetimeFigureOut">
              <a:rPr lang="kn-IN" smtClean="0"/>
              <a:t>23-01-26</a:t>
            </a:fld>
            <a:endParaRPr lang="k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F9548-8C01-2BDF-34CF-28CDD8F3E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B5B8B-CD10-FB15-1389-CF30ECAD6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A96F-6C4B-4AC3-9C13-7EE73803C2CE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34061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673775-2229-28F2-30BB-F243608C0C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k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6D62F-9642-8C58-F8EF-F23B99317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k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8D79-D280-9D43-7CAE-6BA3C75E4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EFCC-BF51-4F69-9E57-5D149E48B357}" type="datetimeFigureOut">
              <a:rPr lang="kn-IN" smtClean="0"/>
              <a:t>23-01-26</a:t>
            </a:fld>
            <a:endParaRPr lang="k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2276D-D19F-6F32-BF7F-0D49ABD41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0B8C9-2A4E-479C-AED4-BF27F2BDD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A96F-6C4B-4AC3-9C13-7EE73803C2CE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1176521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B96980-755D-3CFA-B673-70968FAF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k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09A1F-7394-7DC9-A0AC-3B11EA5EE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k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0E3A6-609F-AF7D-ED21-28D451358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3EFCC-BF51-4F69-9E57-5D149E48B357}" type="datetimeFigureOut">
              <a:rPr lang="kn-IN" smtClean="0"/>
              <a:t>23-01-26</a:t>
            </a:fld>
            <a:endParaRPr lang="k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010E7-5FA8-2EB9-BBF9-71059F8E0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2CA4C-AD74-2FE5-1441-2C2C4BE6D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2A96F-6C4B-4AC3-9C13-7EE73803C2CE}" type="slidenum">
              <a:rPr lang="kn-IN" smtClean="0"/>
              <a:t>‹#›</a:t>
            </a:fld>
            <a:endParaRPr lang="kn-IN"/>
          </a:p>
        </p:txBody>
      </p:sp>
    </p:spTree>
    <p:extLst>
      <p:ext uri="{BB962C8B-B14F-4D97-AF65-F5344CB8AC3E}">
        <p14:creationId xmlns:p14="http://schemas.microsoft.com/office/powerpoint/2010/main" val="697914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n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59DB9-B37D-6AF1-6322-122E08535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0" y="1788159"/>
            <a:ext cx="9144000" cy="1264603"/>
          </a:xfrm>
        </p:spPr>
        <p:txBody>
          <a:bodyPr/>
          <a:lstStyle/>
          <a:p>
            <a:r>
              <a:rPr lang="en-US" b="1" i="1" dirty="0"/>
              <a:t>Unit-2</a:t>
            </a:r>
            <a:endParaRPr lang="kn-IN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D811A9-124B-4DD5-6C2C-362FDED4A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52762"/>
            <a:ext cx="9144000" cy="1655762"/>
          </a:xfrm>
        </p:spPr>
        <p:txBody>
          <a:bodyPr>
            <a:normAutofit/>
          </a:bodyPr>
          <a:lstStyle/>
          <a:p>
            <a:r>
              <a:rPr lang="en-US" sz="7200" b="1" i="1" dirty="0" err="1">
                <a:latin typeface="Algerian" panose="04020705040A02060702" pitchFamily="82" charset="0"/>
              </a:rPr>
              <a:t>NoSql</a:t>
            </a:r>
            <a:endParaRPr lang="kn-IN" sz="7200" b="1" i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037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91DA51-A932-631B-8BEE-099E4C4404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2388567"/>
              </p:ext>
            </p:extLst>
          </p:nvPr>
        </p:nvGraphicFramePr>
        <p:xfrm>
          <a:off x="434074" y="1258568"/>
          <a:ext cx="11323852" cy="530352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75024">
                  <a:extLst>
                    <a:ext uri="{9D8B030D-6E8A-4147-A177-3AD203B41FA5}">
                      <a16:colId xmlns:a16="http://schemas.microsoft.com/office/drawing/2014/main" val="1289666178"/>
                    </a:ext>
                  </a:extLst>
                </a:gridCol>
                <a:gridCol w="5056698">
                  <a:extLst>
                    <a:ext uri="{9D8B030D-6E8A-4147-A177-3AD203B41FA5}">
                      <a16:colId xmlns:a16="http://schemas.microsoft.com/office/drawing/2014/main" val="1483763471"/>
                    </a:ext>
                  </a:extLst>
                </a:gridCol>
                <a:gridCol w="3992130">
                  <a:extLst>
                    <a:ext uri="{9D8B030D-6E8A-4147-A177-3AD203B41FA5}">
                      <a16:colId xmlns:a16="http://schemas.microsoft.com/office/drawing/2014/main" val="2606234359"/>
                    </a:ext>
                  </a:extLst>
                </a:gridCol>
              </a:tblGrid>
              <a:tr h="1282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400" b="1" dirty="0">
                          <a:effectLst/>
                        </a:rPr>
                        <a:t>Point of difference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400" b="1" dirty="0">
                          <a:effectLst/>
                        </a:rPr>
                        <a:t>RDBMS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400" b="1" dirty="0">
                          <a:effectLst/>
                        </a:rPr>
                        <a:t>NoSQL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683890"/>
                  </a:ext>
                </a:extLst>
              </a:tr>
              <a:tr h="4833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1800" b="1" dirty="0">
                          <a:effectLst/>
                        </a:rPr>
                        <a:t>Data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Uses relational model: data in tables with rows and columns.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Uses non‑relational models: key‑value, document, column‑family, graph, etc.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108248"/>
                  </a:ext>
                </a:extLst>
              </a:tr>
              <a:tr h="3946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1800" b="1" dirty="0">
                          <a:effectLst/>
                        </a:rPr>
                        <a:t>Schema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Fixed, predefined schema; structure must be designed before inserting data.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Schema‑less or flexible schema; records can have different fields.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735424"/>
                  </a:ext>
                </a:extLst>
              </a:tr>
              <a:tr h="4833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1800" b="1" dirty="0">
                          <a:effectLst/>
                        </a:rPr>
                        <a:t>Query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Standard SQL for defining and querying data.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No single standard; queries via JSON‑like syntax, APIs, or custom languages.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484203"/>
                  </a:ext>
                </a:extLst>
              </a:tr>
              <a:tr h="3946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1800" b="1">
                          <a:effectLst/>
                        </a:rPr>
                        <a:t>Relationships &amp; joins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Strong support for relationships with primary/foreign keys and JOINs.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Usually avoids complex joins; prefers embedded or denormalized data.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561584"/>
                  </a:ext>
                </a:extLst>
              </a:tr>
              <a:tr h="3946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1800" b="1">
                          <a:effectLst/>
                        </a:rPr>
                        <a:t>Transactions &amp; 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Strong ACID guarantees; reliable multi‑row transactions.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Often BASE and eventual consistency, focusing on availability and speed.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225112"/>
                  </a:ext>
                </a:extLst>
              </a:tr>
              <a:tr h="4065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1800" b="1">
                          <a:effectLst/>
                        </a:rPr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Mainly vertical scaling (bigger single server).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Designed for horizontal scaling across many nodes.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519868"/>
                  </a:ext>
                </a:extLst>
              </a:tr>
              <a:tr h="3946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1800" b="1" dirty="0">
                          <a:effectLst/>
                        </a:rPr>
                        <a:t>Data type suitability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Best for highly structured, stable data with clear relations.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Better for semi‑structured, unstructured, or frequently changing data.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98148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C9ACE8C-FE70-3460-D58E-38D82B0EDD4E}"/>
              </a:ext>
            </a:extLst>
          </p:cNvPr>
          <p:cNvSpPr txBox="1"/>
          <p:nvPr/>
        </p:nvSpPr>
        <p:spPr>
          <a:xfrm>
            <a:off x="434074" y="446314"/>
            <a:ext cx="8643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Comparison Between RDMS and </a:t>
            </a:r>
            <a:r>
              <a:rPr lang="en-US" sz="3200" b="1" dirty="0" err="1"/>
              <a:t>NoSql</a:t>
            </a:r>
            <a:endParaRPr lang="kn-IN" sz="3200" b="1" dirty="0"/>
          </a:p>
        </p:txBody>
      </p:sp>
    </p:spTree>
    <p:extLst>
      <p:ext uri="{BB962C8B-B14F-4D97-AF65-F5344CB8AC3E}">
        <p14:creationId xmlns:p14="http://schemas.microsoft.com/office/powerpoint/2010/main" val="237888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DCB7AD-D3EF-B649-09B0-C6FED0795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183890"/>
              </p:ext>
            </p:extLst>
          </p:nvPr>
        </p:nvGraphicFramePr>
        <p:xfrm>
          <a:off x="639548" y="555172"/>
          <a:ext cx="10912904" cy="60350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192462">
                  <a:extLst>
                    <a:ext uri="{9D8B030D-6E8A-4147-A177-3AD203B41FA5}">
                      <a16:colId xmlns:a16="http://schemas.microsoft.com/office/drawing/2014/main" val="1725122895"/>
                    </a:ext>
                  </a:extLst>
                </a:gridCol>
                <a:gridCol w="4873188">
                  <a:extLst>
                    <a:ext uri="{9D8B030D-6E8A-4147-A177-3AD203B41FA5}">
                      <a16:colId xmlns:a16="http://schemas.microsoft.com/office/drawing/2014/main" val="107148355"/>
                    </a:ext>
                  </a:extLst>
                </a:gridCol>
                <a:gridCol w="3847254">
                  <a:extLst>
                    <a:ext uri="{9D8B030D-6E8A-4147-A177-3AD203B41FA5}">
                      <a16:colId xmlns:a16="http://schemas.microsoft.com/office/drawing/2014/main" val="901581006"/>
                    </a:ext>
                  </a:extLst>
                </a:gridCol>
              </a:tblGrid>
              <a:tr h="6423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1800" b="1" dirty="0">
                          <a:effectLst/>
                        </a:rPr>
                        <a:t>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Uses normalization to reduce redundancy; data split into many related tables. 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Often denormalized to keep related data together for faster reads. 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961226155"/>
                  </a:ext>
                </a:extLst>
              </a:tr>
              <a:tr h="9471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1800" b="1" dirty="0">
                          <a:effectLst/>
                        </a:rPr>
                        <a:t>Typical use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Banking, ERP, inventory, finance, where strict consistency and complex queries are needed. 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Big data, analytics, social networks, content management, IoT, high‑traffic web apps. 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676384071"/>
                  </a:ext>
                </a:extLst>
              </a:tr>
              <a:tr h="6423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1800" b="1" dirty="0">
                          <a:effectLst/>
                        </a:rPr>
                        <a:t>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MySQL, PostgreSQL, Oracle, SQL Server. 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1800" dirty="0">
                          <a:effectLst/>
                        </a:rPr>
                        <a:t>MongoDB, Cassandra, Redis, HBase, Neo4j, DynamoDB. 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728945520"/>
                  </a:ext>
                </a:extLst>
              </a:tr>
              <a:tr h="6423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1800" b="1" dirty="0">
                          <a:effectLst/>
                        </a:rPr>
                        <a:t>Flexibility &amp; schema 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Schema changes (like adding columns) can be slow on large databases. 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New fields can be added easily without global schema migration. 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832143394"/>
                  </a:ext>
                </a:extLst>
              </a:tr>
              <a:tr h="12518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1800" b="1">
                          <a:effectLst/>
                        </a:rPr>
                        <a:t>Performance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Very good for complex joins and strict transactional workloads, but may struggle with huge distributed writes. 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Optimized for high read/write throughput and large scale; complex multi‑record transactions may be limited. 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71026627"/>
                  </a:ext>
                </a:extLst>
              </a:tr>
              <a:tr h="6423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1800" b="1" dirty="0">
                          <a:effectLst/>
                        </a:rPr>
                        <a:t>Fault tolerance &amp;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Traditionally single primary with optional replicas; risk of single point of failure. 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Built around distributed clusters with automatic replication and partitioning. 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998160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93AEAA-6AF6-C3F3-96D3-3C64509701C8}"/>
              </a:ext>
            </a:extLst>
          </p:cNvPr>
          <p:cNvSpPr txBox="1"/>
          <p:nvPr/>
        </p:nvSpPr>
        <p:spPr>
          <a:xfrm>
            <a:off x="293914" y="36955"/>
            <a:ext cx="7717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Comparison Between RDMS and </a:t>
            </a:r>
            <a:r>
              <a:rPr lang="en-US" sz="2400" b="1" dirty="0" err="1"/>
              <a:t>NoSql</a:t>
            </a:r>
            <a:r>
              <a:rPr lang="en-US" sz="2400" b="1" dirty="0"/>
              <a:t>  (Con…)</a:t>
            </a:r>
            <a:endParaRPr lang="kn-IN" sz="2400" b="1" dirty="0"/>
          </a:p>
        </p:txBody>
      </p:sp>
    </p:spTree>
    <p:extLst>
      <p:ext uri="{BB962C8B-B14F-4D97-AF65-F5344CB8AC3E}">
        <p14:creationId xmlns:p14="http://schemas.microsoft.com/office/powerpoint/2010/main" val="354596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0E892-5C1C-74E6-EE44-053889CA1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919"/>
            <a:ext cx="10515600" cy="86423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RDBMS Approach </a:t>
            </a:r>
            <a:endParaRPr lang="kn-IN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5F45A-4564-46B4-254B-EE4A6F1D7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864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The </a:t>
            </a:r>
            <a:r>
              <a:rPr lang="en-US" sz="1800" b="1" dirty="0"/>
              <a:t>RDBMS (Relational Database Management System) approach</a:t>
            </a:r>
            <a:r>
              <a:rPr lang="en-US" sz="1800" dirty="0"/>
              <a:t> stores data in a </a:t>
            </a:r>
            <a:r>
              <a:rPr lang="en-US" sz="1800" b="1" dirty="0"/>
              <a:t>structured, tabular format</a:t>
            </a:r>
            <a:r>
              <a:rPr lang="en-US" sz="1800" dirty="0"/>
              <a:t> and follows strict rules to ensure </a:t>
            </a:r>
            <a:r>
              <a:rPr lang="en-US" sz="1800" b="1" dirty="0"/>
              <a:t>data accuracy, consistency, and reliability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k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BBE718-BE29-3FDE-B982-22A777A1EC0B}"/>
              </a:ext>
            </a:extLst>
          </p:cNvPr>
          <p:cNvSpPr txBox="1"/>
          <p:nvPr/>
        </p:nvSpPr>
        <p:spPr>
          <a:xfrm>
            <a:off x="985520" y="22577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Characteristics of RDBMS Approach:</a:t>
            </a:r>
            <a:endParaRPr lang="kn-IN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DA1BF44-96FA-3700-C16C-7F1610937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535" y="2799765"/>
            <a:ext cx="1239150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Table-Based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30238" marR="0" lvl="0" indent="-920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kn-IN" dirty="0">
                <a:latin typeface="Arial" panose="020B0604020202020204" pitchFamily="34" charset="0"/>
              </a:rPr>
              <a:t> 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 (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kn-I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n-IN" b="1" dirty="0">
                <a:latin typeface="Arial" panose="020B0604020202020204" pitchFamily="34" charset="0"/>
              </a:rPr>
              <a:t>2. 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30238" marR="0" lvl="0" indent="434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insertion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630238" marR="0" lvl="0" indent="434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easily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(SQL)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20725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manipulation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20725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queries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04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2B993-8846-06C4-881F-D64ED17FA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52E017-1085-41B0-9E37-58C4889E6AC4}"/>
              </a:ext>
            </a:extLst>
          </p:cNvPr>
          <p:cNvSpPr txBox="1"/>
          <p:nvPr/>
        </p:nvSpPr>
        <p:spPr>
          <a:xfrm>
            <a:off x="1024774" y="5340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Key Characteristics of RDBMS Approach:</a:t>
            </a:r>
            <a:endParaRPr lang="kn-IN" sz="2400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91D0EF8-29E2-88A1-A825-106B6900B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774" y="1636029"/>
            <a:ext cx="945000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ACID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Transactions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20725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Atomicity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Consistency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Isolation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Durability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20725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transaction-critical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n-I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Consistency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5988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915988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Normalization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076325" marR="0" lvl="0" indent="-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redundancy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076325" marR="0" lvl="0" indent="-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integrity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dirty="0"/>
              <a:t>7. </a:t>
            </a:r>
            <a:r>
              <a:rPr lang="en-US" sz="2000" b="1" dirty="0"/>
              <a:t>Referential Integrity</a:t>
            </a:r>
            <a:endParaRPr lang="en-US" sz="2000" dirty="0"/>
          </a:p>
          <a:p>
            <a:pPr marL="893763" indent="92075">
              <a:buFont typeface="Wingdings" panose="05000000000000000000" pitchFamily="2" charset="2"/>
              <a:buChar char="Ø"/>
            </a:pPr>
            <a:r>
              <a:rPr lang="en-US" dirty="0"/>
              <a:t>   Maintains relationships using </a:t>
            </a:r>
            <a:r>
              <a:rPr lang="en-US" b="1" dirty="0"/>
              <a:t>primary and foreign keys</a:t>
            </a:r>
            <a:r>
              <a:rPr lang="en-US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n-I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56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B1EC5-AFDF-0076-A6A6-8F0EDD5DC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D2F39C-447B-2FEA-567B-CDA70726F4E2}"/>
              </a:ext>
            </a:extLst>
          </p:cNvPr>
          <p:cNvSpPr txBox="1"/>
          <p:nvPr/>
        </p:nvSpPr>
        <p:spPr>
          <a:xfrm>
            <a:off x="617780" y="59063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Key Characteristics of RDBMS Approach:</a:t>
            </a:r>
            <a:endParaRPr lang="kn-IN" sz="2400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2054D9F-7F9D-375C-E424-BA466201D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025" y="1425399"/>
            <a:ext cx="7592489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 8. Concurrency Control</a:t>
            </a:r>
            <a:endParaRPr lang="en-US" sz="2000" dirty="0"/>
          </a:p>
          <a:p>
            <a:pPr marL="804863" indent="-271463">
              <a:buFont typeface="Wingdings" panose="05000000000000000000" pitchFamily="2" charset="2"/>
              <a:buChar char="Ø"/>
            </a:pPr>
            <a:r>
              <a:rPr lang="en-US" dirty="0"/>
              <a:t>Manages multiple users safely.</a:t>
            </a:r>
          </a:p>
          <a:p>
            <a:pPr marL="804863" indent="-271463">
              <a:buFont typeface="Wingdings" panose="05000000000000000000" pitchFamily="2" charset="2"/>
              <a:buChar char="Ø"/>
            </a:pPr>
            <a:r>
              <a:rPr lang="en-US" dirty="0"/>
              <a:t>Uses locks, isolation levels, and transactions.</a:t>
            </a:r>
          </a:p>
          <a:p>
            <a:endParaRPr lang="en-US" dirty="0"/>
          </a:p>
          <a:p>
            <a:r>
              <a:rPr lang="en-US" sz="2000" b="1" dirty="0"/>
              <a:t>9. Centralized Architecture</a:t>
            </a:r>
            <a:endParaRPr lang="en-US" sz="2000" dirty="0"/>
          </a:p>
          <a:p>
            <a:pPr marL="804863" indent="-358775">
              <a:buFont typeface="Wingdings" panose="05000000000000000000" pitchFamily="2" charset="2"/>
              <a:buChar char="Ø"/>
            </a:pPr>
            <a:r>
              <a:rPr lang="en-US" dirty="0"/>
              <a:t>Usually runs on a </a:t>
            </a:r>
            <a:r>
              <a:rPr lang="en-US" b="1" dirty="0"/>
              <a:t>single server or tightly coupled cluster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10. Vertical Scalability</a:t>
            </a:r>
            <a:endParaRPr lang="en-US" dirty="0"/>
          </a:p>
          <a:p>
            <a:pPr marL="804863" indent="-271463">
              <a:buFont typeface="Wingdings" panose="05000000000000000000" pitchFamily="2" charset="2"/>
              <a:buChar char="Ø"/>
            </a:pPr>
            <a:r>
              <a:rPr lang="en-US" dirty="0"/>
              <a:t>Scales by increasing CPU, RAM, or storage.</a:t>
            </a:r>
          </a:p>
          <a:p>
            <a:pPr marL="804863" indent="-271463">
              <a:buFont typeface="Wingdings" panose="05000000000000000000" pitchFamily="2" charset="2"/>
              <a:buChar char="Ø"/>
            </a:pPr>
            <a:r>
              <a:rPr lang="en-US" dirty="0"/>
              <a:t>Limited scalability compared to NoSQL.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30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57B7B-E20F-EFFF-5F90-B05F7986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80FC05-C743-E049-149C-89E0F757C1C0}"/>
              </a:ext>
            </a:extLst>
          </p:cNvPr>
          <p:cNvSpPr txBox="1"/>
          <p:nvPr/>
        </p:nvSpPr>
        <p:spPr>
          <a:xfrm>
            <a:off x="826391" y="748299"/>
            <a:ext cx="66584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/>
              <a:t>Advantages of RDBMS Approach</a:t>
            </a:r>
            <a:endParaRPr lang="kn-IN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06F33A-3588-663C-347B-6BE2870B3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793" y="1861055"/>
            <a:ext cx="6411950" cy="247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integrity</a:t>
            </a:r>
            <a:endParaRPr kumimoji="0" lang="kn-IN" altLang="kn-I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Mature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well-tested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</a:t>
            </a:r>
            <a:endParaRPr kumimoji="0" lang="kn-IN" altLang="kn-I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endParaRPr kumimoji="0" lang="kn-IN" altLang="kn-I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Powerful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analytics</a:t>
            </a:r>
            <a:endParaRPr kumimoji="0" lang="kn-IN" altLang="kn-I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0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61C98A-AD25-ECF6-95E3-7E2F4A27E358}"/>
              </a:ext>
            </a:extLst>
          </p:cNvPr>
          <p:cNvSpPr txBox="1"/>
          <p:nvPr/>
        </p:nvSpPr>
        <p:spPr>
          <a:xfrm>
            <a:off x="885306" y="920927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/>
              <a:t>Limitations of RDBMS Approach</a:t>
            </a:r>
            <a:endParaRPr lang="kn-IN" sz="24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51DE1E4-C986-9E22-98B4-0E82B1938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8769" y="2175273"/>
            <a:ext cx="6664631" cy="2239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horizontally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sets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unstructured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large-scale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deployments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3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BE3F9-569F-2C1A-FE2F-9F2A89EAD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D51B8C-1994-4C64-7715-32BA96D116C8}"/>
              </a:ext>
            </a:extLst>
          </p:cNvPr>
          <p:cNvSpPr txBox="1"/>
          <p:nvPr/>
        </p:nvSpPr>
        <p:spPr>
          <a:xfrm>
            <a:off x="580506" y="337234"/>
            <a:ext cx="6093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Challenges of NoSQL Approach</a:t>
            </a:r>
            <a:endParaRPr lang="kn-IN" sz="28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59778B2-3627-4F75-4C3E-EC12528C6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093" y="2329474"/>
            <a:ext cx="63232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A" sz="2000" b="1" dirty="0"/>
              <a:t>Key Challenges</a:t>
            </a:r>
            <a:endParaRPr kumimoji="0" lang="kn-IN" altLang="kn-I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A2B73-6DAD-28C0-2EEA-99EB9DA49722}"/>
              </a:ext>
            </a:extLst>
          </p:cNvPr>
          <p:cNvSpPr txBox="1"/>
          <p:nvPr/>
        </p:nvSpPr>
        <p:spPr>
          <a:xfrm>
            <a:off x="1153093" y="1082897"/>
            <a:ext cx="6492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NoSQL approach</a:t>
            </a:r>
            <a:r>
              <a:rPr lang="en-US" dirty="0"/>
              <a:t> is designed for scalability and performance, but it also introduces several challenges.</a:t>
            </a:r>
            <a:endParaRPr lang="k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4396F-063D-0882-85DD-5704E931D5A4}"/>
              </a:ext>
            </a:extLst>
          </p:cNvPr>
          <p:cNvSpPr txBox="1"/>
          <p:nvPr/>
        </p:nvSpPr>
        <p:spPr>
          <a:xfrm>
            <a:off x="1634243" y="2974255"/>
            <a:ext cx="7629500" cy="313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CA" sz="2000" b="1" dirty="0"/>
              <a:t>Eventual Consistency:</a:t>
            </a:r>
          </a:p>
          <a:p>
            <a:pPr marL="63182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Data may not be immediately consistent across all nodes.</a:t>
            </a:r>
          </a:p>
          <a:p>
            <a:pPr marL="63182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Different users may see different values temporarily.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CA" sz="2000" b="1" dirty="0"/>
              <a:t>2. Limited Transaction Support</a:t>
            </a:r>
          </a:p>
          <a:p>
            <a:pPr marL="719138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Full ACID transactions are often not supported.</a:t>
            </a:r>
          </a:p>
          <a:p>
            <a:pPr marL="719138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Mostly supports single-record atomic operations.</a:t>
            </a:r>
            <a:endParaRPr lang="kn-IN" sz="2000" dirty="0"/>
          </a:p>
        </p:txBody>
      </p:sp>
    </p:spTree>
    <p:extLst>
      <p:ext uri="{BB962C8B-B14F-4D97-AF65-F5344CB8AC3E}">
        <p14:creationId xmlns:p14="http://schemas.microsoft.com/office/powerpoint/2010/main" val="231807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BA8E3E21-84DE-EB4E-A9E1-2047F1A70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610" y="1225689"/>
            <a:ext cx="869511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4863" marR="0" lvl="0" indent="-358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SQL.</a:t>
            </a:r>
          </a:p>
          <a:p>
            <a:pPr marL="804863" marR="0" lvl="0" indent="-3587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NoSQL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syntax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Duplication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92175" marR="0" lvl="0" indent="-260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often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denormalized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92175" marR="0" lvl="0" indent="-260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maintenance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n-I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92175" marR="0" lvl="0" indent="-260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Consistency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integrity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level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92175" marR="0" lvl="0" indent="-260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complexity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n-I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n-IN" b="1" dirty="0">
                <a:latin typeface="Arial" panose="020B0604020202020204" pitchFamily="34" charset="0"/>
              </a:rPr>
              <a:t>6.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Debugging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Maintenance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90600" marR="0" lvl="0" indent="-2714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harder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990600" marR="0" lvl="0" indent="-27146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failures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complicate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641B8-4107-D304-C087-B73442CA714D}"/>
              </a:ext>
            </a:extLst>
          </p:cNvPr>
          <p:cNvSpPr txBox="1"/>
          <p:nvPr/>
        </p:nvSpPr>
        <p:spPr>
          <a:xfrm>
            <a:off x="391887" y="8747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Challenges of NoSQL Approach</a:t>
            </a:r>
            <a:endParaRPr lang="kn-IN" sz="2800" b="1" dirty="0"/>
          </a:p>
        </p:txBody>
      </p:sp>
    </p:spTree>
    <p:extLst>
      <p:ext uri="{BB962C8B-B14F-4D97-AF65-F5344CB8AC3E}">
        <p14:creationId xmlns:p14="http://schemas.microsoft.com/office/powerpoint/2010/main" val="29530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92A6C5-3A59-F1E4-E84D-2A5096D9D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778" y="2274839"/>
            <a:ext cx="753687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92175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NoSQL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weaker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RDBMS.</a:t>
            </a:r>
            <a:endParaRPr kumimoji="0" lang="en-US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n-I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Curve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90600" marR="0" lvl="0" indent="-358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52A4B2-9074-8E26-8858-958657061646}"/>
              </a:ext>
            </a:extLst>
          </p:cNvPr>
          <p:cNvSpPr txBox="1"/>
          <p:nvPr/>
        </p:nvSpPr>
        <p:spPr>
          <a:xfrm>
            <a:off x="751114" y="74061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Challenges of NoSQL Approach</a:t>
            </a:r>
            <a:endParaRPr lang="kn-IN" sz="2400" b="1" dirty="0"/>
          </a:p>
        </p:txBody>
      </p:sp>
    </p:spTree>
    <p:extLst>
      <p:ext uri="{BB962C8B-B14F-4D97-AF65-F5344CB8AC3E}">
        <p14:creationId xmlns:p14="http://schemas.microsoft.com/office/powerpoint/2010/main" val="405962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F21BE3-8B4E-C00F-3E3C-E2C5ADA29D8B}"/>
              </a:ext>
            </a:extLst>
          </p:cNvPr>
          <p:cNvSpPr txBox="1"/>
          <p:nvPr/>
        </p:nvSpPr>
        <p:spPr>
          <a:xfrm>
            <a:off x="411283" y="305373"/>
            <a:ext cx="6093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Key–Value Data Model </a:t>
            </a:r>
            <a:endParaRPr lang="k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DBBBE-82FA-0FD2-B749-9B8AEC2EE85C}"/>
              </a:ext>
            </a:extLst>
          </p:cNvPr>
          <p:cNvSpPr txBox="1"/>
          <p:nvPr/>
        </p:nvSpPr>
        <p:spPr>
          <a:xfrm>
            <a:off x="872046" y="1049533"/>
            <a:ext cx="89033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Definition:</a:t>
            </a:r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Key–Value Data Model</a:t>
            </a:r>
            <a:r>
              <a:rPr lang="en-US" dirty="0"/>
              <a:t> stores data as a collection of </a:t>
            </a:r>
            <a:r>
              <a:rPr lang="en-US" b="1" dirty="0"/>
              <a:t>key–value pairs</a:t>
            </a:r>
            <a:r>
              <a:rPr lang="en-US" dirty="0"/>
              <a:t>, where each </a:t>
            </a:r>
            <a:r>
              <a:rPr lang="en-US" b="1" dirty="0"/>
              <a:t>key</a:t>
            </a:r>
            <a:r>
              <a:rPr lang="en-US" dirty="0"/>
              <a:t> is unique and is used to retrieve its corresponding </a:t>
            </a:r>
            <a:r>
              <a:rPr lang="en-US" b="1" dirty="0"/>
              <a:t>value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32DE07-023D-EC27-F106-AC8B6616F96A}"/>
              </a:ext>
            </a:extLst>
          </p:cNvPr>
          <p:cNvSpPr txBox="1"/>
          <p:nvPr/>
        </p:nvSpPr>
        <p:spPr>
          <a:xfrm>
            <a:off x="2102329" y="2230078"/>
            <a:ext cx="60932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Structure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kn-IN" dirty="0" err="1">
                <a:solidFill>
                  <a:srgbClr val="FF0000"/>
                </a:solidFill>
              </a:rPr>
              <a:t>Key</a:t>
            </a:r>
            <a:r>
              <a:rPr lang="kn-IN" dirty="0">
                <a:solidFill>
                  <a:srgbClr val="FF0000"/>
                </a:solidFill>
              </a:rPr>
              <a:t>  →  </a:t>
            </a:r>
            <a:r>
              <a:rPr lang="kn-IN" dirty="0" err="1">
                <a:solidFill>
                  <a:srgbClr val="FF0000"/>
                </a:solidFill>
              </a:rPr>
              <a:t>Value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Examples </a:t>
            </a:r>
          </a:p>
          <a:p>
            <a:r>
              <a:rPr lang="en-CA" dirty="0"/>
              <a:t>Redis , Amazon DynamoDB, Riak</a:t>
            </a:r>
            <a:endParaRPr lang="kn-IN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A94A8-C887-E3EE-75F1-193181F482B5}"/>
              </a:ext>
            </a:extLst>
          </p:cNvPr>
          <p:cNvSpPr txBox="1"/>
          <p:nvPr/>
        </p:nvSpPr>
        <p:spPr>
          <a:xfrm>
            <a:off x="872046" y="4196827"/>
            <a:ext cx="6093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/>
              <a:t>Key Characteristics</a:t>
            </a:r>
            <a:endParaRPr lang="kn-IN" sz="2000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80CA81F-7156-DD9A-3E7B-7E937CBB0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827" y="4495815"/>
            <a:ext cx="9270473" cy="2362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Simple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lightweight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model</a:t>
            </a:r>
            <a:endParaRPr kumimoji="0" lang="kn-IN" altLang="kn-I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Very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fast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access</a:t>
            </a:r>
            <a:endParaRPr kumimoji="0" lang="kn-IN" altLang="kn-I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Schema-less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storage</a:t>
            </a:r>
            <a:endParaRPr kumimoji="0" lang="kn-IN" altLang="kn-I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Highly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scalable</a:t>
            </a:r>
            <a:endParaRPr kumimoji="0" lang="kn-IN" altLang="kn-I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Values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can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strings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objects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binary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</a:t>
            </a:r>
            <a:endParaRPr kumimoji="0" lang="kn-IN" altLang="kn-I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6" name="Picture 2" descr="System Design: The Key-value Store | by Kajal Glotra | Medium">
            <a:extLst>
              <a:ext uri="{FF2B5EF4-FFF2-40B4-BE49-F238E27FC236}">
                <a16:creationId xmlns:a16="http://schemas.microsoft.com/office/drawing/2014/main" id="{5B0B601E-81C0-669C-4FE2-FDEE3CB52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274" y="2108282"/>
            <a:ext cx="4612821" cy="356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7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44B2B7-6F4F-6585-19A8-8D56BA9B069B}"/>
              </a:ext>
            </a:extLst>
          </p:cNvPr>
          <p:cNvSpPr txBox="1"/>
          <p:nvPr/>
        </p:nvSpPr>
        <p:spPr>
          <a:xfrm>
            <a:off x="538480" y="30809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200" b="1" dirty="0"/>
              <a:t>Document Data Model:</a:t>
            </a:r>
            <a:endParaRPr lang="k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DF2FB8-8251-A7D6-341E-B8D255EC6ECE}"/>
              </a:ext>
            </a:extLst>
          </p:cNvPr>
          <p:cNvSpPr txBox="1"/>
          <p:nvPr/>
        </p:nvSpPr>
        <p:spPr>
          <a:xfrm>
            <a:off x="802640" y="1059934"/>
            <a:ext cx="9540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Document Data Model</a:t>
            </a:r>
            <a:r>
              <a:rPr lang="en-US" dirty="0"/>
              <a:t> stores data as </a:t>
            </a:r>
            <a:r>
              <a:rPr lang="en-US" b="1" dirty="0"/>
              <a:t>documents</a:t>
            </a:r>
            <a:r>
              <a:rPr lang="en-US" dirty="0"/>
              <a:t> (usually in </a:t>
            </a:r>
            <a:r>
              <a:rPr lang="en-US" b="1" dirty="0"/>
              <a:t>JSON/BSON/XML</a:t>
            </a:r>
            <a:r>
              <a:rPr lang="en-US" dirty="0"/>
              <a:t> format).</a:t>
            </a:r>
            <a:br>
              <a:rPr lang="en-US" dirty="0"/>
            </a:br>
            <a:r>
              <a:rPr lang="en-US" dirty="0"/>
              <a:t>Each document contains </a:t>
            </a:r>
            <a:r>
              <a:rPr lang="en-US" b="1" dirty="0"/>
              <a:t>key–value pairs</a:t>
            </a:r>
            <a:r>
              <a:rPr lang="en-US" dirty="0"/>
              <a:t> and can have </a:t>
            </a:r>
            <a:r>
              <a:rPr lang="en-US" b="1" dirty="0"/>
              <a:t>nested structures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F07770-E066-28A0-7F22-553D15FFA5CC}"/>
              </a:ext>
            </a:extLst>
          </p:cNvPr>
          <p:cNvSpPr txBox="1"/>
          <p:nvPr/>
        </p:nvSpPr>
        <p:spPr>
          <a:xfrm>
            <a:off x="1361440" y="19021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Structure</a:t>
            </a:r>
            <a:r>
              <a:rPr lang="en-CA" dirty="0"/>
              <a:t> </a:t>
            </a:r>
            <a:endParaRPr lang="k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CDC26F-15CA-4957-9A2F-3714C15BFD0B}"/>
              </a:ext>
            </a:extLst>
          </p:cNvPr>
          <p:cNvSpPr txBox="1"/>
          <p:nvPr/>
        </p:nvSpPr>
        <p:spPr>
          <a:xfrm>
            <a:off x="2174240" y="239446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n-IN" dirty="0"/>
              <a:t>{</a:t>
            </a:r>
          </a:p>
          <a:p>
            <a:r>
              <a:rPr lang="kn-IN" dirty="0"/>
              <a:t>  "</a:t>
            </a:r>
            <a:r>
              <a:rPr lang="kn-IN" dirty="0" err="1"/>
              <a:t>id</a:t>
            </a:r>
            <a:r>
              <a:rPr lang="kn-IN" dirty="0"/>
              <a:t>": 101,</a:t>
            </a:r>
          </a:p>
          <a:p>
            <a:r>
              <a:rPr lang="kn-IN" dirty="0"/>
              <a:t>  "</a:t>
            </a:r>
            <a:r>
              <a:rPr lang="kn-IN" dirty="0" err="1"/>
              <a:t>name</a:t>
            </a:r>
            <a:r>
              <a:rPr lang="kn-IN" dirty="0"/>
              <a:t>": “</a:t>
            </a:r>
            <a:r>
              <a:rPr lang="en-US" dirty="0"/>
              <a:t>Ravi</a:t>
            </a:r>
            <a:r>
              <a:rPr lang="kn-IN" dirty="0"/>
              <a:t>",</a:t>
            </a:r>
          </a:p>
          <a:p>
            <a:r>
              <a:rPr lang="kn-IN" dirty="0"/>
              <a:t>  "</a:t>
            </a:r>
            <a:r>
              <a:rPr lang="kn-IN" dirty="0" err="1"/>
              <a:t>course</a:t>
            </a:r>
            <a:r>
              <a:rPr lang="kn-IN" dirty="0"/>
              <a:t>": "CSE",</a:t>
            </a:r>
          </a:p>
          <a:p>
            <a:r>
              <a:rPr lang="kn-IN" dirty="0"/>
              <a:t>  "</a:t>
            </a:r>
            <a:r>
              <a:rPr lang="kn-IN" dirty="0" err="1"/>
              <a:t>skills</a:t>
            </a:r>
            <a:r>
              <a:rPr lang="kn-IN" dirty="0"/>
              <a:t>": ["</a:t>
            </a:r>
            <a:r>
              <a:rPr lang="kn-IN" dirty="0" err="1"/>
              <a:t>Java</a:t>
            </a:r>
            <a:r>
              <a:rPr lang="kn-IN" dirty="0"/>
              <a:t>", "</a:t>
            </a:r>
            <a:r>
              <a:rPr lang="kn-IN" dirty="0" err="1"/>
              <a:t>MongoDB</a:t>
            </a:r>
            <a:r>
              <a:rPr lang="kn-IN" dirty="0"/>
              <a:t>"]</a:t>
            </a:r>
          </a:p>
          <a:p>
            <a:r>
              <a:rPr lang="kn-IN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6AE6F7-4BDA-702C-F324-F4A3A17F9251}"/>
              </a:ext>
            </a:extLst>
          </p:cNvPr>
          <p:cNvSpPr txBox="1"/>
          <p:nvPr/>
        </p:nvSpPr>
        <p:spPr>
          <a:xfrm>
            <a:off x="904240" y="42511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Key Characteristics:</a:t>
            </a:r>
            <a:endParaRPr lang="kn-IN" b="1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42EC9C4-699A-3002-282C-CFABFDB03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240" y="4620462"/>
            <a:ext cx="5760720" cy="213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Schema-less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flexible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nested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mapping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together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9" name="Picture 5" descr="What Is a Document Database? - Document DBs and Stores ...">
            <a:extLst>
              <a:ext uri="{FF2B5EF4-FFF2-40B4-BE49-F238E27FC236}">
                <a16:creationId xmlns:a16="http://schemas.microsoft.com/office/drawing/2014/main" id="{53E51119-D04D-0CF1-64E4-1B78EC214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18389"/>
            <a:ext cx="5838616" cy="342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58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34A454-B13B-EAA6-8C97-D951879EC04B}"/>
              </a:ext>
            </a:extLst>
          </p:cNvPr>
          <p:cNvSpPr txBox="1"/>
          <p:nvPr/>
        </p:nvSpPr>
        <p:spPr>
          <a:xfrm>
            <a:off x="505170" y="672961"/>
            <a:ext cx="6096000" cy="1988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Use Cases</a:t>
            </a:r>
          </a:p>
          <a:p>
            <a:pPr marL="72072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CA" dirty="0"/>
              <a:t>Web &amp; mobile applications</a:t>
            </a:r>
          </a:p>
          <a:p>
            <a:pPr marL="72072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CA" dirty="0"/>
              <a:t>Content management systems</a:t>
            </a:r>
          </a:p>
          <a:p>
            <a:pPr marL="72072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CA" dirty="0"/>
              <a:t>RESTful APIs</a:t>
            </a:r>
          </a:p>
          <a:p>
            <a:pPr marL="72072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CA" dirty="0"/>
              <a:t>E-commerce catalogs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6A7265-BD1C-5A53-6274-79551B1E4F59}"/>
              </a:ext>
            </a:extLst>
          </p:cNvPr>
          <p:cNvSpPr txBox="1"/>
          <p:nvPr/>
        </p:nvSpPr>
        <p:spPr>
          <a:xfrm>
            <a:off x="505170" y="3296175"/>
            <a:ext cx="6096000" cy="157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Advantages</a:t>
            </a:r>
          </a:p>
          <a:p>
            <a:pPr marL="82391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Flexible data structure</a:t>
            </a:r>
          </a:p>
          <a:p>
            <a:pPr marL="82391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Faster reads (no joins)</a:t>
            </a:r>
          </a:p>
          <a:p>
            <a:pPr marL="82391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Developer-friendly (JSON)</a:t>
            </a:r>
          </a:p>
        </p:txBody>
      </p:sp>
      <p:pic>
        <p:nvPicPr>
          <p:cNvPr id="2050" name="Picture 2" descr="Introducing the MongoDB Document - Simple Talk">
            <a:extLst>
              <a:ext uri="{FF2B5EF4-FFF2-40B4-BE49-F238E27FC236}">
                <a16:creationId xmlns:a16="http://schemas.microsoft.com/office/drawing/2014/main" id="{57EB8624-75C2-E959-2163-E8551D766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540" y="672960"/>
            <a:ext cx="6021968" cy="5512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23083A-0494-0D6A-BA06-B7EA9A44352A}"/>
              </a:ext>
            </a:extLst>
          </p:cNvPr>
          <p:cNvSpPr txBox="1"/>
          <p:nvPr/>
        </p:nvSpPr>
        <p:spPr>
          <a:xfrm>
            <a:off x="384492" y="5058294"/>
            <a:ext cx="6096000" cy="157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Examples</a:t>
            </a:r>
          </a:p>
          <a:p>
            <a:pPr marL="985838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MongoDB</a:t>
            </a:r>
          </a:p>
          <a:p>
            <a:pPr marL="985838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CouchDB</a:t>
            </a:r>
          </a:p>
          <a:p>
            <a:pPr marL="985838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Firebase Firestore</a:t>
            </a:r>
          </a:p>
        </p:txBody>
      </p:sp>
    </p:spTree>
    <p:extLst>
      <p:ext uri="{BB962C8B-B14F-4D97-AF65-F5344CB8AC3E}">
        <p14:creationId xmlns:p14="http://schemas.microsoft.com/office/powerpoint/2010/main" val="162347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505DAB-7A15-7169-E178-86D239757872}"/>
              </a:ext>
            </a:extLst>
          </p:cNvPr>
          <p:cNvSpPr txBox="1"/>
          <p:nvPr/>
        </p:nvSpPr>
        <p:spPr>
          <a:xfrm>
            <a:off x="497840" y="17601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/>
              <a:t>Column-Family Stores: </a:t>
            </a:r>
            <a:endParaRPr lang="k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E9AE-6359-C991-B90F-C4EF15A3209E}"/>
              </a:ext>
            </a:extLst>
          </p:cNvPr>
          <p:cNvSpPr txBox="1"/>
          <p:nvPr/>
        </p:nvSpPr>
        <p:spPr>
          <a:xfrm>
            <a:off x="995680" y="699234"/>
            <a:ext cx="9804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Column-Family Stores</a:t>
            </a:r>
            <a:r>
              <a:rPr lang="en-US" sz="2000" dirty="0"/>
              <a:t> are NoSQL databases that store data in </a:t>
            </a:r>
            <a:r>
              <a:rPr lang="en-US" sz="2000" b="1" dirty="0"/>
              <a:t>columns grouped into column families</a:t>
            </a:r>
            <a:r>
              <a:rPr lang="en-US" sz="2000" dirty="0"/>
              <a:t>, instead of traditional rows.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They are optimized for </a:t>
            </a:r>
            <a:r>
              <a:rPr lang="en-US" sz="2000" b="1" dirty="0"/>
              <a:t>large-scale and distributed data storage</a:t>
            </a:r>
            <a:r>
              <a:rPr lang="en-US" sz="20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20C7F0-297E-516D-5B89-B454F65FC73A}"/>
              </a:ext>
            </a:extLst>
          </p:cNvPr>
          <p:cNvSpPr txBox="1"/>
          <p:nvPr/>
        </p:nvSpPr>
        <p:spPr>
          <a:xfrm>
            <a:off x="833120" y="205523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Structure :</a:t>
            </a:r>
          </a:p>
          <a:p>
            <a:r>
              <a:rPr lang="en-CA" b="1" dirty="0"/>
              <a:t>		</a:t>
            </a:r>
            <a:r>
              <a:rPr lang="en-US" dirty="0"/>
              <a:t>Row Key | Column Family: </a:t>
            </a:r>
            <a:r>
              <a:rPr lang="en-US" dirty="0" err="1"/>
              <a:t>UserDetails</a:t>
            </a:r>
            <a:endParaRPr lang="en-US" dirty="0"/>
          </a:p>
          <a:p>
            <a:r>
              <a:rPr lang="en-US" dirty="0"/>
              <a:t>        			| Name | Email | Phone</a:t>
            </a:r>
          </a:p>
          <a:p>
            <a:endParaRPr lang="k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B04730-245F-C587-F594-4A771DA12435}"/>
              </a:ext>
            </a:extLst>
          </p:cNvPr>
          <p:cNvSpPr txBox="1"/>
          <p:nvPr/>
        </p:nvSpPr>
        <p:spPr>
          <a:xfrm>
            <a:off x="995680" y="3602435"/>
            <a:ext cx="6096000" cy="2722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Key Characteristics</a:t>
            </a:r>
          </a:p>
          <a:p>
            <a:pPr marL="8032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Data stored in </a:t>
            </a:r>
            <a:r>
              <a:rPr lang="en-US" sz="2000" b="1" dirty="0"/>
              <a:t>columns</a:t>
            </a:r>
            <a:r>
              <a:rPr lang="en-US" sz="2000" dirty="0"/>
              <a:t>, not rows</a:t>
            </a:r>
          </a:p>
          <a:p>
            <a:pPr marL="8032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Columns grouped into </a:t>
            </a:r>
            <a:r>
              <a:rPr lang="en-US" sz="2000" b="1" dirty="0"/>
              <a:t>column families</a:t>
            </a:r>
            <a:endParaRPr lang="en-US" sz="2000" dirty="0"/>
          </a:p>
          <a:p>
            <a:pPr marL="8032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Schema is </a:t>
            </a:r>
            <a:r>
              <a:rPr lang="en-US" sz="2000" b="1" dirty="0"/>
              <a:t>flexible</a:t>
            </a:r>
            <a:r>
              <a:rPr lang="en-US" sz="2000" dirty="0"/>
              <a:t> within families</a:t>
            </a:r>
          </a:p>
          <a:p>
            <a:pPr marL="8032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High </a:t>
            </a:r>
            <a:r>
              <a:rPr lang="en-US" sz="2000" b="1" dirty="0"/>
              <a:t>write and read performance</a:t>
            </a:r>
            <a:endParaRPr lang="en-US" sz="2000" dirty="0"/>
          </a:p>
          <a:p>
            <a:pPr marL="8032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Designed for </a:t>
            </a:r>
            <a:r>
              <a:rPr lang="en-US" sz="2000" b="1" dirty="0"/>
              <a:t>distributed clusters</a:t>
            </a:r>
            <a:endParaRPr lang="en-US" sz="2000" dirty="0"/>
          </a:p>
        </p:txBody>
      </p:sp>
      <p:pic>
        <p:nvPicPr>
          <p:cNvPr id="3074" name="Picture 2" descr="What is Cassandra Column Family? Definition &amp; FAQs | ScyllaDB">
            <a:extLst>
              <a:ext uri="{FF2B5EF4-FFF2-40B4-BE49-F238E27FC236}">
                <a16:creationId xmlns:a16="http://schemas.microsoft.com/office/drawing/2014/main" id="{2CB9C79E-D56E-1373-ACC8-F77670E29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840" y="1950720"/>
            <a:ext cx="5606137" cy="4572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998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AFFD33-0F2B-2C49-24B4-FB122CB3EBBD}"/>
              </a:ext>
            </a:extLst>
          </p:cNvPr>
          <p:cNvSpPr txBox="1"/>
          <p:nvPr/>
        </p:nvSpPr>
        <p:spPr>
          <a:xfrm>
            <a:off x="802640" y="1020356"/>
            <a:ext cx="6096000" cy="186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Advantages</a:t>
            </a:r>
            <a:endParaRPr lang="en-US" b="1" dirty="0"/>
          </a:p>
          <a:p>
            <a:pPr marL="630238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Handles </a:t>
            </a:r>
            <a:r>
              <a:rPr lang="en-US" sz="2000" b="1" dirty="0"/>
              <a:t>huge volumes of data</a:t>
            </a:r>
            <a:endParaRPr lang="en-US" sz="2000" dirty="0"/>
          </a:p>
          <a:p>
            <a:pPr marL="630238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Highly scalable and fault tolerant</a:t>
            </a:r>
          </a:p>
          <a:p>
            <a:pPr marL="630238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Efficient for range-based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1DACB-8160-ED73-A291-B2FEDA8C4301}"/>
              </a:ext>
            </a:extLst>
          </p:cNvPr>
          <p:cNvSpPr txBox="1"/>
          <p:nvPr/>
        </p:nvSpPr>
        <p:spPr>
          <a:xfrm>
            <a:off x="802640" y="3005296"/>
            <a:ext cx="6096000" cy="2260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Use Cases</a:t>
            </a:r>
          </a:p>
          <a:p>
            <a:pPr marL="630238" indent="-2746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Time-series data</a:t>
            </a:r>
          </a:p>
          <a:p>
            <a:pPr marL="630238" indent="-2746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Analytics systems</a:t>
            </a:r>
          </a:p>
          <a:p>
            <a:pPr marL="630238" indent="-2746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Logging and monitoring</a:t>
            </a:r>
          </a:p>
          <a:p>
            <a:pPr marL="630238" indent="-2746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Big data applications</a:t>
            </a:r>
          </a:p>
        </p:txBody>
      </p:sp>
      <p:pic>
        <p:nvPicPr>
          <p:cNvPr id="4098" name="Picture 2" descr="What is a Cassandra Data Model? Definition &amp; FAQs | ScyllaDB">
            <a:extLst>
              <a:ext uri="{FF2B5EF4-FFF2-40B4-BE49-F238E27FC236}">
                <a16:creationId xmlns:a16="http://schemas.microsoft.com/office/drawing/2014/main" id="{1BBA2ECD-1803-DC3C-6941-E578E7A26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640" y="213360"/>
            <a:ext cx="6289040" cy="519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Base – Overview of Architecture and Data Model - Netwoven">
            <a:extLst>
              <a:ext uri="{FF2B5EF4-FFF2-40B4-BE49-F238E27FC236}">
                <a16:creationId xmlns:a16="http://schemas.microsoft.com/office/drawing/2014/main" id="{D645BE1E-B63A-46D3-83A3-02C2FC8F9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244" y="409416"/>
            <a:ext cx="7868756" cy="519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6BC1EE-BD46-4202-30AA-6DE99FA4A2FD}"/>
              </a:ext>
            </a:extLst>
          </p:cNvPr>
          <p:cNvSpPr txBox="1"/>
          <p:nvPr/>
        </p:nvSpPr>
        <p:spPr>
          <a:xfrm>
            <a:off x="873760" y="528834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 err="1"/>
              <a:t>Examples</a:t>
            </a:r>
            <a:endParaRPr lang="fr-FR" sz="2400" b="1" dirty="0"/>
          </a:p>
          <a:p>
            <a:pPr marL="630238" indent="-366713">
              <a:buFont typeface="Wingdings" panose="05000000000000000000" pitchFamily="2" charset="2"/>
              <a:buChar char="Ø"/>
            </a:pPr>
            <a:r>
              <a:rPr lang="fr-FR" sz="2400" dirty="0"/>
              <a:t>Apache Cassandra</a:t>
            </a:r>
          </a:p>
          <a:p>
            <a:pPr marL="630238" indent="-366713">
              <a:buFont typeface="Wingdings" panose="05000000000000000000" pitchFamily="2" charset="2"/>
              <a:buChar char="Ø"/>
            </a:pPr>
            <a:r>
              <a:rPr lang="fr-FR" sz="2400" dirty="0"/>
              <a:t>Apache HBase</a:t>
            </a:r>
          </a:p>
          <a:p>
            <a:pPr marL="630238" indent="-366713">
              <a:buFont typeface="Wingdings" panose="05000000000000000000" pitchFamily="2" charset="2"/>
              <a:buChar char="Ø"/>
            </a:pPr>
            <a:r>
              <a:rPr lang="fr-FR" sz="2400" dirty="0"/>
              <a:t>Google </a:t>
            </a:r>
            <a:r>
              <a:rPr lang="fr-FR" sz="2400" dirty="0" err="1"/>
              <a:t>Bigtable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59225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1E930F-0EF0-ADBE-07D3-29B9614193CF}"/>
              </a:ext>
            </a:extLst>
          </p:cNvPr>
          <p:cNvSpPr txBox="1"/>
          <p:nvPr/>
        </p:nvSpPr>
        <p:spPr>
          <a:xfrm>
            <a:off x="548640" y="28777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/>
              <a:t>MongoDB</a:t>
            </a:r>
            <a:endParaRPr lang="k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A0A78-F014-BA61-C202-000362BB088E}"/>
              </a:ext>
            </a:extLst>
          </p:cNvPr>
          <p:cNvSpPr txBox="1"/>
          <p:nvPr/>
        </p:nvSpPr>
        <p:spPr>
          <a:xfrm>
            <a:off x="1259840" y="810994"/>
            <a:ext cx="9570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MongoDB</a:t>
            </a:r>
            <a:r>
              <a:rPr lang="en-US" sz="2000" dirty="0"/>
              <a:t> is a </a:t>
            </a:r>
            <a:r>
              <a:rPr lang="en-US" sz="2000" b="1" dirty="0"/>
              <a:t>NoSQL, document-oriented database</a:t>
            </a:r>
            <a:r>
              <a:rPr lang="en-US" sz="2000" dirty="0"/>
              <a:t> that stores data in </a:t>
            </a:r>
            <a:r>
              <a:rPr lang="en-US" sz="2000" b="1" dirty="0"/>
              <a:t>JSON-like documents (BSON)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It is designed for </a:t>
            </a:r>
            <a:r>
              <a:rPr lang="en-US" sz="2000" b="1" dirty="0"/>
              <a:t>flexibility, scalability, and high performance</a:t>
            </a:r>
            <a:r>
              <a:rPr lang="en-US" sz="2000" dirty="0"/>
              <a:t>.</a:t>
            </a:r>
            <a:endParaRPr lang="k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E3921A-ED55-7E90-2017-8B18DA7790B8}"/>
              </a:ext>
            </a:extLst>
          </p:cNvPr>
          <p:cNvSpPr txBox="1"/>
          <p:nvPr/>
        </p:nvSpPr>
        <p:spPr>
          <a:xfrm>
            <a:off x="548640" y="2349877"/>
            <a:ext cx="6847840" cy="2722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Uses of MongoDB (Why it is Used)</a:t>
            </a:r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Stores </a:t>
            </a:r>
            <a:r>
              <a:rPr lang="en-US" sz="2000" b="1" dirty="0"/>
              <a:t>semi-structured and unstructured data</a:t>
            </a:r>
            <a:endParaRPr lang="en-US" sz="2000" dirty="0"/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Supports </a:t>
            </a:r>
            <a:r>
              <a:rPr lang="en-US" sz="2000" b="1" dirty="0"/>
              <a:t>flexible (schema-less) data models</a:t>
            </a:r>
            <a:endParaRPr lang="en-US" sz="2000" dirty="0"/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Provides </a:t>
            </a:r>
            <a:r>
              <a:rPr lang="en-US" sz="2000" b="1" dirty="0"/>
              <a:t>fast read and write operations</a:t>
            </a:r>
            <a:endParaRPr lang="en-US" sz="2000" dirty="0"/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Easy </a:t>
            </a:r>
            <a:r>
              <a:rPr lang="en-US" sz="2000" b="1" dirty="0"/>
              <a:t>object-to-document mapping</a:t>
            </a:r>
            <a:r>
              <a:rPr lang="en-US" sz="2000" dirty="0"/>
              <a:t> for applications</a:t>
            </a:r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Supports </a:t>
            </a:r>
            <a:r>
              <a:rPr lang="en-US" sz="2000" b="1" dirty="0"/>
              <a:t>horizontal scaling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918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What is MongoDB? NoSQL Database Explained (With Examples)">
            <a:extLst>
              <a:ext uri="{FF2B5EF4-FFF2-40B4-BE49-F238E27FC236}">
                <a16:creationId xmlns:a16="http://schemas.microsoft.com/office/drawing/2014/main" id="{F56812CF-5029-9718-AE73-801BD47B8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477520"/>
            <a:ext cx="10759439" cy="570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85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D09183-24DE-F678-4510-345E42F8D9FF}"/>
              </a:ext>
            </a:extLst>
          </p:cNvPr>
          <p:cNvSpPr txBox="1"/>
          <p:nvPr/>
        </p:nvSpPr>
        <p:spPr>
          <a:xfrm>
            <a:off x="731520" y="380276"/>
            <a:ext cx="9408160" cy="58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Deployment of MongoDB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b="1" dirty="0"/>
              <a:t>1. Standalone Deployment</a:t>
            </a:r>
          </a:p>
          <a:p>
            <a:pPr marL="1076325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Single MongoDB server</a:t>
            </a:r>
          </a:p>
          <a:p>
            <a:pPr marL="1076325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Used for </a:t>
            </a:r>
            <a:r>
              <a:rPr lang="en-US" sz="2000" b="1" dirty="0"/>
              <a:t>development and testing</a:t>
            </a:r>
          </a:p>
          <a:p>
            <a:pPr marL="2549525" lvl="4"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</a:rPr>
              <a:t>Application → MongoDB Server</a:t>
            </a:r>
          </a:p>
          <a:p>
            <a:pPr marL="0" lvl="4">
              <a:lnSpc>
                <a:spcPct val="150000"/>
              </a:lnSpc>
            </a:pPr>
            <a:r>
              <a:rPr lang="en-CA" sz="2400" b="1" dirty="0"/>
              <a:t>2. Replica Set Deployment</a:t>
            </a:r>
          </a:p>
          <a:p>
            <a:pPr marL="1076325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CA" sz="2000" dirty="0"/>
              <a:t>Multiple copies of data</a:t>
            </a:r>
          </a:p>
          <a:p>
            <a:pPr marL="1076325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Ensures </a:t>
            </a:r>
            <a:r>
              <a:rPr lang="en-US" sz="2000" b="1" dirty="0"/>
              <a:t>high availability and fault tolerance</a:t>
            </a:r>
            <a:endParaRPr lang="en-US" sz="2000" dirty="0"/>
          </a:p>
          <a:p>
            <a:pPr marL="2562225" lvl="8"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</a:rPr>
              <a:t>Primary → Secondary → Secondary</a:t>
            </a:r>
          </a:p>
          <a:p>
            <a:r>
              <a:rPr lang="en-US" sz="2400" b="1" dirty="0"/>
              <a:t>3. Sharded Cluster Deployment</a:t>
            </a:r>
          </a:p>
          <a:p>
            <a:pPr marL="1260475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Data distributed across multiple servers</a:t>
            </a:r>
          </a:p>
          <a:p>
            <a:pPr marL="1260475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Ensures </a:t>
            </a:r>
            <a:r>
              <a:rPr lang="en-US" sz="2000" b="1" dirty="0"/>
              <a:t>scalability and load balancing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D557D9-E866-E2B6-55F8-5E7AA0370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150" y="812800"/>
            <a:ext cx="7048500" cy="33197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96D700-FCE9-C1A6-56C6-59092D4DC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500" y="812800"/>
            <a:ext cx="781939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4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9881EA-EA17-7F30-5233-FC18CE8CE84E}"/>
              </a:ext>
            </a:extLst>
          </p:cNvPr>
          <p:cNvSpPr txBox="1"/>
          <p:nvPr/>
        </p:nvSpPr>
        <p:spPr>
          <a:xfrm>
            <a:off x="924560" y="344438"/>
            <a:ext cx="6096000" cy="3707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Applications of MongoDB</a:t>
            </a:r>
          </a:p>
          <a:p>
            <a:pPr marL="1260475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Web and mobile applications</a:t>
            </a:r>
          </a:p>
          <a:p>
            <a:pPr marL="1260475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Content Management Systems (CMS)</a:t>
            </a:r>
          </a:p>
          <a:p>
            <a:pPr marL="1260475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E-commerce platforms</a:t>
            </a:r>
          </a:p>
          <a:p>
            <a:pPr marL="1260475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Real-time analytics</a:t>
            </a:r>
          </a:p>
          <a:p>
            <a:pPr marL="1260475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IoT applications</a:t>
            </a:r>
          </a:p>
          <a:p>
            <a:pPr marL="1260475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Social media platforms</a:t>
            </a:r>
          </a:p>
          <a:p>
            <a:pPr marL="1260475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RESTful APIs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62618-3269-EA9C-11B3-BC8F03CA8DE0}"/>
              </a:ext>
            </a:extLst>
          </p:cNvPr>
          <p:cNvSpPr txBox="1"/>
          <p:nvPr/>
        </p:nvSpPr>
        <p:spPr>
          <a:xfrm>
            <a:off x="5720080" y="3025447"/>
            <a:ext cx="6096000" cy="278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Advantages of MongoDB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Flexible schema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High performance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Easy to scale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Supports replication and sharding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Developer-friendly (JSON format)</a:t>
            </a:r>
          </a:p>
        </p:txBody>
      </p:sp>
    </p:spTree>
    <p:extLst>
      <p:ext uri="{BB962C8B-B14F-4D97-AF65-F5344CB8AC3E}">
        <p14:creationId xmlns:p14="http://schemas.microsoft.com/office/powerpoint/2010/main" val="187931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E948E9-FE2B-6430-E4E9-6DABA330D377}"/>
              </a:ext>
            </a:extLst>
          </p:cNvPr>
          <p:cNvSpPr txBox="1"/>
          <p:nvPr/>
        </p:nvSpPr>
        <p:spPr>
          <a:xfrm>
            <a:off x="629920" y="31825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200" b="1" dirty="0"/>
              <a:t>Apache Cassandra </a:t>
            </a:r>
            <a:endParaRPr lang="k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FF59B-219A-20BC-8D2B-EFD3478765BA}"/>
              </a:ext>
            </a:extLst>
          </p:cNvPr>
          <p:cNvSpPr txBox="1"/>
          <p:nvPr/>
        </p:nvSpPr>
        <p:spPr>
          <a:xfrm>
            <a:off x="1076960" y="903029"/>
            <a:ext cx="97637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Apache Cassandra</a:t>
            </a:r>
            <a:r>
              <a:rPr lang="en-US" dirty="0"/>
              <a:t> is a </a:t>
            </a:r>
            <a:r>
              <a:rPr lang="en-US" b="1" dirty="0"/>
              <a:t>NoSQL, column-family (wide-column) database</a:t>
            </a:r>
            <a:r>
              <a:rPr lang="en-US" dirty="0"/>
              <a:t> designed for </a:t>
            </a:r>
            <a:r>
              <a:rPr lang="en-US" b="1" dirty="0"/>
              <a:t>high availability, fault tolerance, and massive scalability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is especially suitable for </a:t>
            </a:r>
            <a:r>
              <a:rPr lang="en-US" b="1" dirty="0"/>
              <a:t>distributed systems</a:t>
            </a:r>
            <a:r>
              <a:rPr lang="en-US" dirty="0"/>
              <a:t> where downtime is unacceptable.</a:t>
            </a:r>
            <a:endParaRPr lang="k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F9A62-AD32-057F-FAEF-6EA6787609BE}"/>
              </a:ext>
            </a:extLst>
          </p:cNvPr>
          <p:cNvSpPr txBox="1"/>
          <p:nvPr/>
        </p:nvSpPr>
        <p:spPr>
          <a:xfrm>
            <a:off x="802640" y="2551837"/>
            <a:ext cx="8351520" cy="2722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Uses of Cassandra (Why it is Used)</a:t>
            </a:r>
          </a:p>
          <a:p>
            <a:pPr marL="803275" indent="-2651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Handles </a:t>
            </a:r>
            <a:r>
              <a:rPr lang="en-US" sz="2000" b="1" dirty="0"/>
              <a:t>huge volumes of data</a:t>
            </a:r>
            <a:endParaRPr lang="en-US" sz="2000" dirty="0"/>
          </a:p>
          <a:p>
            <a:pPr marL="803275" indent="-2651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Supports </a:t>
            </a:r>
            <a:r>
              <a:rPr lang="en-US" sz="2000" b="1" dirty="0"/>
              <a:t>high write throughput</a:t>
            </a:r>
            <a:endParaRPr lang="en-US" sz="2000" dirty="0"/>
          </a:p>
          <a:p>
            <a:pPr marL="803275" indent="-2651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Provides </a:t>
            </a:r>
            <a:r>
              <a:rPr lang="en-US" sz="2000" b="1" dirty="0"/>
              <a:t>continuous availability</a:t>
            </a:r>
            <a:r>
              <a:rPr lang="en-US" sz="2000" dirty="0"/>
              <a:t> (no single point of failure)</a:t>
            </a:r>
          </a:p>
          <a:p>
            <a:pPr marL="803275" indent="-2651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Designed for </a:t>
            </a:r>
            <a:r>
              <a:rPr lang="en-US" sz="2000" b="1" dirty="0"/>
              <a:t>horizontal scalability</a:t>
            </a:r>
            <a:endParaRPr lang="en-US" sz="2000" dirty="0"/>
          </a:p>
          <a:p>
            <a:pPr marL="803275" indent="-2651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Works efficiently across </a:t>
            </a:r>
            <a:r>
              <a:rPr lang="en-US" sz="2000" b="1" dirty="0"/>
              <a:t>multiple data centers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8332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C79E45-F60F-231E-3D65-EE7029576FF5}"/>
              </a:ext>
            </a:extLst>
          </p:cNvPr>
          <p:cNvSpPr txBox="1"/>
          <p:nvPr/>
        </p:nvSpPr>
        <p:spPr>
          <a:xfrm>
            <a:off x="513080" y="228600"/>
            <a:ext cx="60960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Deployment of Cassandra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b="1" dirty="0"/>
              <a:t>1. Peer-to-Peer Architecture</a:t>
            </a:r>
          </a:p>
          <a:p>
            <a:pPr marL="630238" indent="-274638">
              <a:buFont typeface="Wingdings" panose="05000000000000000000" pitchFamily="2" charset="2"/>
              <a:buChar char="Ø"/>
            </a:pPr>
            <a:r>
              <a:rPr lang="en-US" sz="2000" dirty="0"/>
              <a:t>All nodes are </a:t>
            </a:r>
            <a:r>
              <a:rPr lang="en-US" sz="2000" b="1" dirty="0"/>
              <a:t>equal</a:t>
            </a:r>
            <a:endParaRPr lang="en-US" sz="2000" dirty="0"/>
          </a:p>
          <a:p>
            <a:pPr marL="630238" indent="-274638">
              <a:buFont typeface="Wingdings" panose="05000000000000000000" pitchFamily="2" charset="2"/>
              <a:buChar char="Ø"/>
            </a:pPr>
            <a:r>
              <a:rPr lang="en-US" sz="2000" dirty="0"/>
              <a:t>No master or slave</a:t>
            </a:r>
          </a:p>
          <a:p>
            <a:pPr marL="630238" indent="-274638">
              <a:buFont typeface="Wingdings" panose="05000000000000000000" pitchFamily="2" charset="2"/>
              <a:buChar char="Ø"/>
            </a:pPr>
            <a:r>
              <a:rPr lang="en-US" sz="2000" dirty="0"/>
              <a:t>Eliminates single point of failure</a:t>
            </a:r>
          </a:p>
          <a:p>
            <a:pPr marL="355600"/>
            <a:r>
              <a:rPr lang="en-US" sz="2000" dirty="0"/>
              <a:t>			</a:t>
            </a:r>
            <a:r>
              <a:rPr lang="en-US" sz="2000" dirty="0">
                <a:solidFill>
                  <a:srgbClr val="FF0000"/>
                </a:solidFill>
              </a:rPr>
              <a:t>Node ↔ Node ↔ Node</a:t>
            </a:r>
          </a:p>
          <a:p>
            <a:pPr marL="355600"/>
            <a:endParaRPr lang="en-US" sz="2000" dirty="0">
              <a:solidFill>
                <a:srgbClr val="FF0000"/>
              </a:solidFill>
            </a:endParaRPr>
          </a:p>
          <a:p>
            <a:pPr marL="355600"/>
            <a:endParaRPr lang="en-US" sz="20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194" name="Picture 2" descr="What is Apache Cassandra Architecture? Definition &amp; FAQs ...">
            <a:extLst>
              <a:ext uri="{FF2B5EF4-FFF2-40B4-BE49-F238E27FC236}">
                <a16:creationId xmlns:a16="http://schemas.microsoft.com/office/drawing/2014/main" id="{2F87A7A7-0D76-E9CB-CE2E-00FCE4974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080" y="228600"/>
            <a:ext cx="55118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610CFB-61EA-331F-0F06-30EC9B57B6C6}"/>
              </a:ext>
            </a:extLst>
          </p:cNvPr>
          <p:cNvSpPr txBox="1"/>
          <p:nvPr/>
        </p:nvSpPr>
        <p:spPr>
          <a:xfrm>
            <a:off x="589280" y="3145670"/>
            <a:ext cx="7518400" cy="208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2. Ring-Based Cluster</a:t>
            </a:r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Nodes arranged in a </a:t>
            </a:r>
            <a:r>
              <a:rPr lang="en-US" b="1" dirty="0"/>
              <a:t>ring topology</a:t>
            </a:r>
            <a:endParaRPr lang="en-US" dirty="0"/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Data distributed using </a:t>
            </a:r>
            <a:r>
              <a:rPr lang="en-US" b="1" dirty="0"/>
              <a:t>consistent hashing</a:t>
            </a:r>
          </a:p>
          <a:p>
            <a:pPr marL="1819275" lvl="3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Node1 → Node2 → Node3 → Node4 → Node1</a:t>
            </a:r>
          </a:p>
          <a:p>
            <a:pPr marL="1819275" lvl="3">
              <a:lnSpc>
                <a:spcPct val="150000"/>
              </a:lnSpc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6B3EA4-E08A-7E25-FDEB-44E7DF5E43DB}"/>
              </a:ext>
            </a:extLst>
          </p:cNvPr>
          <p:cNvSpPr txBox="1"/>
          <p:nvPr/>
        </p:nvSpPr>
        <p:spPr>
          <a:xfrm>
            <a:off x="680720" y="5050135"/>
            <a:ext cx="6096000" cy="2260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3. Replication Strategy</a:t>
            </a:r>
          </a:p>
          <a:p>
            <a:pPr marL="72072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Data replicated across multiple nodes</a:t>
            </a:r>
          </a:p>
          <a:p>
            <a:pPr marL="72072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Ensures </a:t>
            </a:r>
            <a:r>
              <a:rPr lang="en-US" sz="2000" b="1" dirty="0"/>
              <a:t>fault tolerance</a:t>
            </a:r>
          </a:p>
          <a:p>
            <a:pPr marL="377825">
              <a:lnSpc>
                <a:spcPct val="150000"/>
              </a:lnSpc>
            </a:pPr>
            <a:r>
              <a:rPr lang="en-US" sz="2000" b="1" dirty="0"/>
              <a:t>		</a:t>
            </a:r>
            <a:r>
              <a:rPr lang="en-US" sz="2000" dirty="0">
                <a:solidFill>
                  <a:srgbClr val="FF0000"/>
                </a:solidFill>
              </a:rPr>
              <a:t>Write → Node A → Node B → Node C</a:t>
            </a:r>
          </a:p>
          <a:p>
            <a:pPr marL="377825"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8196" name="Picture 4" descr="Monitoring Cassandra at Scale">
            <a:extLst>
              <a:ext uri="{FF2B5EF4-FFF2-40B4-BE49-F238E27FC236}">
                <a16:creationId xmlns:a16="http://schemas.microsoft.com/office/drawing/2014/main" id="{E1FE43D4-6793-159C-306B-D3D802E15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480" y="3657600"/>
            <a:ext cx="4282440" cy="335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35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D69974-D61D-7054-ECA7-8503677CC62F}"/>
              </a:ext>
            </a:extLst>
          </p:cNvPr>
          <p:cNvSpPr txBox="1"/>
          <p:nvPr/>
        </p:nvSpPr>
        <p:spPr>
          <a:xfrm>
            <a:off x="508000" y="349086"/>
            <a:ext cx="6096000" cy="440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3200" b="1" dirty="0"/>
              <a:t>Applications of Cassandra</a:t>
            </a:r>
          </a:p>
          <a:p>
            <a:pPr marL="1076325" indent="-342900">
              <a:lnSpc>
                <a:spcPct val="150000"/>
              </a:lnSpc>
              <a:buFont typeface="+mj-lt"/>
              <a:buAutoNum type="arabicPeriod"/>
            </a:pPr>
            <a:r>
              <a:rPr lang="en-CA" sz="2400" dirty="0"/>
              <a:t>Real-time analytics</a:t>
            </a:r>
          </a:p>
          <a:p>
            <a:pPr marL="1076325" indent="-342900">
              <a:lnSpc>
                <a:spcPct val="150000"/>
              </a:lnSpc>
              <a:buFont typeface="+mj-lt"/>
              <a:buAutoNum type="arabicPeriod"/>
            </a:pPr>
            <a:r>
              <a:rPr lang="en-CA" sz="2400" dirty="0"/>
              <a:t>IoT and sensor data</a:t>
            </a:r>
          </a:p>
          <a:p>
            <a:pPr marL="1076325" indent="-342900">
              <a:lnSpc>
                <a:spcPct val="150000"/>
              </a:lnSpc>
              <a:buFont typeface="+mj-lt"/>
              <a:buAutoNum type="arabicPeriod"/>
            </a:pPr>
            <a:r>
              <a:rPr lang="en-CA" sz="2400" dirty="0"/>
              <a:t>Messaging systems</a:t>
            </a:r>
          </a:p>
          <a:p>
            <a:pPr marL="1076325" indent="-342900">
              <a:lnSpc>
                <a:spcPct val="150000"/>
              </a:lnSpc>
              <a:buFont typeface="+mj-lt"/>
              <a:buAutoNum type="arabicPeriod"/>
            </a:pPr>
            <a:r>
              <a:rPr lang="en-CA" sz="2400" dirty="0"/>
              <a:t>Recommendation engines</a:t>
            </a:r>
          </a:p>
          <a:p>
            <a:pPr marL="1076325" indent="-342900">
              <a:lnSpc>
                <a:spcPct val="150000"/>
              </a:lnSpc>
              <a:buFont typeface="+mj-lt"/>
              <a:buAutoNum type="arabicPeriod"/>
            </a:pPr>
            <a:r>
              <a:rPr lang="en-CA" sz="2400" dirty="0"/>
              <a:t>Time-series data</a:t>
            </a:r>
          </a:p>
          <a:p>
            <a:pPr marL="1076325" indent="-342900">
              <a:lnSpc>
                <a:spcPct val="150000"/>
              </a:lnSpc>
              <a:buFont typeface="+mj-lt"/>
              <a:buAutoNum type="arabicPeriod"/>
            </a:pPr>
            <a:r>
              <a:rPr lang="en-CA" sz="2400" dirty="0"/>
              <a:t>Online transaction logging</a:t>
            </a:r>
          </a:p>
          <a:p>
            <a:pPr marL="1076325" indent="-342900">
              <a:lnSpc>
                <a:spcPct val="150000"/>
              </a:lnSpc>
              <a:buFont typeface="+mj-lt"/>
              <a:buAutoNum type="arabicPeriod"/>
            </a:pPr>
            <a:r>
              <a:rPr lang="en-CA" sz="2400" dirty="0"/>
              <a:t>Social media platforms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7B4EC-1176-7F3E-BC45-97A6B91DD5A9}"/>
              </a:ext>
            </a:extLst>
          </p:cNvPr>
          <p:cNvSpPr txBox="1"/>
          <p:nvPr/>
        </p:nvSpPr>
        <p:spPr>
          <a:xfrm>
            <a:off x="5252720" y="3232557"/>
            <a:ext cx="609600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Advantages of Cassandra</a:t>
            </a:r>
          </a:p>
          <a:p>
            <a:pPr marL="72072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Highly available (no downtime)</a:t>
            </a:r>
          </a:p>
          <a:p>
            <a:pPr marL="72072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Linear scalability</a:t>
            </a:r>
          </a:p>
          <a:p>
            <a:pPr marL="72072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Handles large write-heavy workloads</a:t>
            </a:r>
          </a:p>
          <a:p>
            <a:pPr marL="72072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Fault tolerant and reliable</a:t>
            </a:r>
          </a:p>
          <a:p>
            <a:pPr marL="72072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Suitable for global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4183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96B3EB-FA8C-625F-7F9C-C5A84694D537}"/>
              </a:ext>
            </a:extLst>
          </p:cNvPr>
          <p:cNvSpPr txBox="1"/>
          <p:nvPr/>
        </p:nvSpPr>
        <p:spPr>
          <a:xfrm>
            <a:off x="457200" y="28337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000" b="1" dirty="0"/>
              <a:t>Apache HBase</a:t>
            </a:r>
            <a:endParaRPr lang="kn-IN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7D886-A80B-A6FF-745D-CA56AC6FD431}"/>
              </a:ext>
            </a:extLst>
          </p:cNvPr>
          <p:cNvSpPr txBox="1"/>
          <p:nvPr/>
        </p:nvSpPr>
        <p:spPr>
          <a:xfrm>
            <a:off x="650240" y="1136417"/>
            <a:ext cx="93878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Apache HBase</a:t>
            </a:r>
            <a:r>
              <a:rPr lang="en-US" sz="2000" dirty="0"/>
              <a:t> is a </a:t>
            </a:r>
            <a:r>
              <a:rPr lang="en-US" sz="2000" b="1" dirty="0"/>
              <a:t>NoSQL, column-family (wide-column) database</a:t>
            </a:r>
            <a:r>
              <a:rPr lang="en-US" sz="2000" dirty="0"/>
              <a:t> built on top of </a:t>
            </a:r>
            <a:r>
              <a:rPr lang="en-US" sz="2000" b="1" dirty="0"/>
              <a:t>Hadoop HDFS</a:t>
            </a:r>
            <a:r>
              <a:rPr lang="en-US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It is designed to handle </a:t>
            </a:r>
            <a:r>
              <a:rPr lang="en-US" sz="2000" b="1" dirty="0"/>
              <a:t>very large datasets</a:t>
            </a:r>
            <a:r>
              <a:rPr lang="en-US" sz="2000" dirty="0"/>
              <a:t> and provide </a:t>
            </a:r>
            <a:r>
              <a:rPr lang="en-US" sz="2000" b="1" dirty="0"/>
              <a:t>real-time read/write access</a:t>
            </a:r>
            <a:r>
              <a:rPr lang="en-US" sz="2000" dirty="0"/>
              <a:t> to big data.</a:t>
            </a:r>
            <a:endParaRPr lang="kn-IN" sz="2000" dirty="0"/>
          </a:p>
        </p:txBody>
      </p:sp>
      <p:pic>
        <p:nvPicPr>
          <p:cNvPr id="1026" name="Picture 2" descr="HBase Architecture | A Quick Glance of HBase Architecture">
            <a:extLst>
              <a:ext uri="{FF2B5EF4-FFF2-40B4-BE49-F238E27FC236}">
                <a16:creationId xmlns:a16="http://schemas.microsoft.com/office/drawing/2014/main" id="{B0AD2C72-79E5-7487-B84E-F8B49713A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99360"/>
            <a:ext cx="5902960" cy="425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CF6F2D-EE12-0617-9954-85E7F9D60075}"/>
              </a:ext>
            </a:extLst>
          </p:cNvPr>
          <p:cNvSpPr txBox="1"/>
          <p:nvPr/>
        </p:nvSpPr>
        <p:spPr>
          <a:xfrm>
            <a:off x="457200" y="3035905"/>
            <a:ext cx="6096000" cy="318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Uses of HBase (Why it is Used)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Stores </a:t>
            </a:r>
            <a:r>
              <a:rPr lang="en-US" sz="2000" b="1" dirty="0"/>
              <a:t>huge volumes of structured and semi-structured data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Provides </a:t>
            </a:r>
            <a:r>
              <a:rPr lang="en-US" sz="2000" b="1" dirty="0"/>
              <a:t>random, real-time read/write access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Integrates tightly with </a:t>
            </a:r>
            <a:r>
              <a:rPr lang="en-US" sz="2000" b="1" dirty="0"/>
              <a:t>Hadoop ecosystem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Handles </a:t>
            </a:r>
            <a:r>
              <a:rPr lang="en-US" sz="2000" b="1" dirty="0"/>
              <a:t>sparse data efficiently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Suitable for </a:t>
            </a:r>
            <a:r>
              <a:rPr lang="en-US" sz="2000" b="1" dirty="0"/>
              <a:t>big data applications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7128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47572E-4371-7F3C-4BFB-FF2C66B8350D}"/>
              </a:ext>
            </a:extLst>
          </p:cNvPr>
          <p:cNvSpPr txBox="1"/>
          <p:nvPr/>
        </p:nvSpPr>
        <p:spPr>
          <a:xfrm>
            <a:off x="944880" y="288509"/>
            <a:ext cx="6096000" cy="6569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Deployment of </a:t>
            </a:r>
            <a:r>
              <a:rPr lang="en-US" sz="3200" b="1" dirty="0" err="1"/>
              <a:t>Hbase</a:t>
            </a:r>
            <a:endParaRPr lang="en-US" sz="3200" b="1" dirty="0"/>
          </a:p>
          <a:p>
            <a:pPr>
              <a:buNone/>
            </a:pPr>
            <a:endParaRPr lang="en-US" sz="3200" b="1" dirty="0"/>
          </a:p>
          <a:p>
            <a:pPr>
              <a:buNone/>
            </a:pPr>
            <a:r>
              <a:rPr lang="en-US" sz="2400" b="1" dirty="0"/>
              <a:t>1. HBase on Hadoop (HDFS-Based)</a:t>
            </a:r>
          </a:p>
          <a:p>
            <a:pPr marL="8032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Data stored in </a:t>
            </a:r>
            <a:r>
              <a:rPr lang="en-US" sz="2000" b="1" dirty="0"/>
              <a:t>HDFS</a:t>
            </a:r>
            <a:endParaRPr lang="en-US" sz="2000" dirty="0"/>
          </a:p>
          <a:p>
            <a:pPr marL="8032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Uses Hadoop for distributed storage</a:t>
            </a:r>
          </a:p>
          <a:p>
            <a:pPr marL="1831975" lvl="3"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</a:rPr>
              <a:t>Application → HBase → HDFS</a:t>
            </a:r>
          </a:p>
          <a:p>
            <a:pPr marL="1831975" lvl="3">
              <a:lnSpc>
                <a:spcPct val="150000"/>
              </a:lnSpc>
            </a:pPr>
            <a:endParaRPr lang="en-US" sz="2000" dirty="0"/>
          </a:p>
          <a:p>
            <a:pPr marL="1831975" lvl="3">
              <a:lnSpc>
                <a:spcPct val="150000"/>
              </a:lnSpc>
            </a:pPr>
            <a:endParaRPr lang="en-US" sz="2800" dirty="0"/>
          </a:p>
          <a:p>
            <a:r>
              <a:rPr lang="en-US" sz="2400" b="1" dirty="0"/>
              <a:t>2. Master–Region Server Architecture</a:t>
            </a:r>
          </a:p>
          <a:p>
            <a:pPr marL="803275" indent="-2651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 err="1"/>
              <a:t>HMaster</a:t>
            </a:r>
            <a:r>
              <a:rPr lang="en-US" sz="2000" dirty="0"/>
              <a:t> manages the cluster</a:t>
            </a:r>
          </a:p>
          <a:p>
            <a:pPr marL="803275" indent="-2651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 err="1"/>
              <a:t>RegionServers</a:t>
            </a:r>
            <a:r>
              <a:rPr lang="en-US" sz="2000" dirty="0"/>
              <a:t> store and serve data</a:t>
            </a:r>
          </a:p>
          <a:p>
            <a:pPr marL="803275" indent="-2651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Tables split into </a:t>
            </a:r>
            <a:r>
              <a:rPr lang="en-US" sz="2000" b="1" dirty="0"/>
              <a:t>regions</a:t>
            </a:r>
          </a:p>
          <a:p>
            <a:pPr marL="538162">
              <a:lnSpc>
                <a:spcPct val="150000"/>
              </a:lnSpc>
            </a:pPr>
            <a:endParaRPr lang="en-US" sz="2000" dirty="0"/>
          </a:p>
          <a:p>
            <a:pPr marL="1831975" lvl="3"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31365A-E6D8-7A81-7174-DF8316DBE37E}"/>
              </a:ext>
            </a:extLst>
          </p:cNvPr>
          <p:cNvSpPr txBox="1"/>
          <p:nvPr/>
        </p:nvSpPr>
        <p:spPr>
          <a:xfrm>
            <a:off x="5669280" y="4533086"/>
            <a:ext cx="39827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n-IN" sz="2000" dirty="0" err="1">
                <a:solidFill>
                  <a:srgbClr val="FF0000"/>
                </a:solidFill>
              </a:rPr>
              <a:t>HMaster</a:t>
            </a:r>
            <a:endParaRPr lang="kn-IN" sz="2000" dirty="0">
              <a:solidFill>
                <a:srgbClr val="FF0000"/>
              </a:solidFill>
            </a:endParaRPr>
          </a:p>
          <a:p>
            <a:pPr algn="ctr"/>
            <a:r>
              <a:rPr lang="kn-IN" sz="2000" dirty="0">
                <a:solidFill>
                  <a:srgbClr val="FF0000"/>
                </a:solidFill>
              </a:rPr>
              <a:t>   |</a:t>
            </a:r>
          </a:p>
          <a:p>
            <a:pPr algn="ctr"/>
            <a:r>
              <a:rPr lang="kn-IN" sz="2000" dirty="0">
                <a:solidFill>
                  <a:srgbClr val="FF0000"/>
                </a:solidFill>
              </a:rPr>
              <a:t>-----------------</a:t>
            </a:r>
          </a:p>
          <a:p>
            <a:pPr algn="ctr"/>
            <a:r>
              <a:rPr lang="kn-IN" sz="2000" dirty="0">
                <a:solidFill>
                  <a:srgbClr val="FF0000"/>
                </a:solidFill>
              </a:rPr>
              <a:t>| </a:t>
            </a:r>
            <a:r>
              <a:rPr lang="kn-IN" sz="2000" dirty="0" err="1">
                <a:solidFill>
                  <a:srgbClr val="FF0000"/>
                </a:solidFill>
              </a:rPr>
              <a:t>RegionServer</a:t>
            </a:r>
            <a:r>
              <a:rPr lang="kn-IN" sz="2000" dirty="0">
                <a:solidFill>
                  <a:srgbClr val="FF0000"/>
                </a:solidFill>
              </a:rPr>
              <a:t> 1 |</a:t>
            </a:r>
          </a:p>
          <a:p>
            <a:pPr algn="ctr"/>
            <a:r>
              <a:rPr lang="kn-IN" sz="2000" dirty="0">
                <a:solidFill>
                  <a:srgbClr val="FF0000"/>
                </a:solidFill>
              </a:rPr>
              <a:t>| </a:t>
            </a:r>
            <a:r>
              <a:rPr lang="kn-IN" sz="2000" dirty="0" err="1">
                <a:solidFill>
                  <a:srgbClr val="FF0000"/>
                </a:solidFill>
              </a:rPr>
              <a:t>RegionServer</a:t>
            </a:r>
            <a:r>
              <a:rPr lang="kn-IN" sz="2000" dirty="0">
                <a:solidFill>
                  <a:srgbClr val="FF0000"/>
                </a:solidFill>
              </a:rPr>
              <a:t> 2 |</a:t>
            </a:r>
          </a:p>
          <a:p>
            <a:pPr algn="ctr"/>
            <a:r>
              <a:rPr lang="kn-IN" sz="2000" dirty="0">
                <a:solidFill>
                  <a:srgbClr val="FF0000"/>
                </a:solidFill>
              </a:rPr>
              <a:t>| </a:t>
            </a:r>
            <a:r>
              <a:rPr lang="kn-IN" sz="2000" dirty="0" err="1">
                <a:solidFill>
                  <a:srgbClr val="FF0000"/>
                </a:solidFill>
              </a:rPr>
              <a:t>RegionServer</a:t>
            </a:r>
            <a:r>
              <a:rPr lang="kn-IN" sz="2000" dirty="0">
                <a:solidFill>
                  <a:srgbClr val="FF0000"/>
                </a:solidFill>
              </a:rPr>
              <a:t> 3 |</a:t>
            </a:r>
          </a:p>
          <a:p>
            <a:pPr algn="ctr"/>
            <a:r>
              <a:rPr lang="kn-IN" sz="2000" dirty="0">
                <a:solidFill>
                  <a:srgbClr val="FF0000"/>
                </a:solidFill>
              </a:rPr>
              <a:t>-----------------</a:t>
            </a:r>
          </a:p>
        </p:txBody>
      </p:sp>
      <p:pic>
        <p:nvPicPr>
          <p:cNvPr id="2050" name="Picture 2" descr="nosql - Difference between HBase and Hadoop/HDFS - Stack Overflow">
            <a:extLst>
              <a:ext uri="{FF2B5EF4-FFF2-40B4-BE49-F238E27FC236}">
                <a16:creationId xmlns:a16="http://schemas.microsoft.com/office/drawing/2014/main" id="{B67A07E4-9987-CBD3-94A6-F904AEC87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560" y="78145"/>
            <a:ext cx="6261100" cy="445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2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15C030-F804-1BDE-FB6F-D21B507B91D3}"/>
              </a:ext>
            </a:extLst>
          </p:cNvPr>
          <p:cNvSpPr txBox="1"/>
          <p:nvPr/>
        </p:nvSpPr>
        <p:spPr>
          <a:xfrm>
            <a:off x="762000" y="498455"/>
            <a:ext cx="7020560" cy="2722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3. Zookeeper Coordination</a:t>
            </a:r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Uses </a:t>
            </a:r>
            <a:r>
              <a:rPr lang="en-US" sz="2000" b="1" dirty="0"/>
              <a:t>Apache </a:t>
            </a:r>
            <a:r>
              <a:rPr lang="en-US" sz="2000" b="1" dirty="0" err="1"/>
              <a:t>ZooKeeper</a:t>
            </a:r>
            <a:endParaRPr lang="en-US" sz="2000" dirty="0"/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Handles configuration, coordination, and failure recovery</a:t>
            </a:r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447675">
              <a:lnSpc>
                <a:spcPct val="150000"/>
              </a:lnSpc>
            </a:pPr>
            <a:r>
              <a:rPr lang="en-US" sz="2000" dirty="0"/>
              <a:t>			</a:t>
            </a:r>
            <a:r>
              <a:rPr lang="en-US" sz="2000" dirty="0">
                <a:solidFill>
                  <a:srgbClr val="FF0000"/>
                </a:solidFill>
              </a:rPr>
              <a:t>Client → </a:t>
            </a:r>
            <a:r>
              <a:rPr lang="en-US" sz="2000" dirty="0" err="1">
                <a:solidFill>
                  <a:srgbClr val="FF0000"/>
                </a:solidFill>
              </a:rPr>
              <a:t>ZooKeeper</a:t>
            </a:r>
            <a:r>
              <a:rPr lang="en-US" sz="2000" dirty="0">
                <a:solidFill>
                  <a:srgbClr val="FF0000"/>
                </a:solidFill>
              </a:rPr>
              <a:t> → HBase Cluster</a:t>
            </a:r>
          </a:p>
          <a:p>
            <a:pPr marL="447675"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EDABC-2324-37E3-7A4F-C934D553BA34}"/>
              </a:ext>
            </a:extLst>
          </p:cNvPr>
          <p:cNvSpPr txBox="1"/>
          <p:nvPr/>
        </p:nvSpPr>
        <p:spPr>
          <a:xfrm>
            <a:off x="762000" y="2894736"/>
            <a:ext cx="6096000" cy="385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Applications of HBase</a:t>
            </a:r>
          </a:p>
          <a:p>
            <a:pPr marL="1076325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Big data analytics</a:t>
            </a:r>
          </a:p>
          <a:p>
            <a:pPr marL="1076325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Time-series data storage</a:t>
            </a:r>
          </a:p>
          <a:p>
            <a:pPr marL="1076325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Log and event data processing</a:t>
            </a:r>
          </a:p>
          <a:p>
            <a:pPr marL="1076325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IoT data storage</a:t>
            </a:r>
          </a:p>
          <a:p>
            <a:pPr marL="1076325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Recommendation systems</a:t>
            </a:r>
          </a:p>
          <a:p>
            <a:pPr marL="1076325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Search indexing systems</a:t>
            </a:r>
          </a:p>
        </p:txBody>
      </p:sp>
    </p:spTree>
    <p:extLst>
      <p:ext uri="{BB962C8B-B14F-4D97-AF65-F5344CB8AC3E}">
        <p14:creationId xmlns:p14="http://schemas.microsoft.com/office/powerpoint/2010/main" val="3649955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6718E9-560B-FEF5-3F63-622CAB40D0ED}"/>
              </a:ext>
            </a:extLst>
          </p:cNvPr>
          <p:cNvSpPr txBox="1"/>
          <p:nvPr/>
        </p:nvSpPr>
        <p:spPr>
          <a:xfrm>
            <a:off x="924560" y="621437"/>
            <a:ext cx="8717280" cy="2845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Advantages of HBase</a:t>
            </a:r>
          </a:p>
          <a:p>
            <a:pPr marL="8032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Scales to </a:t>
            </a:r>
            <a:r>
              <a:rPr lang="en-US" sz="2000" b="1" dirty="0"/>
              <a:t>billions of rows and millions of columns</a:t>
            </a:r>
            <a:endParaRPr lang="en-US" sz="2000" dirty="0"/>
          </a:p>
          <a:p>
            <a:pPr marL="8032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High availability and fault tolerance</a:t>
            </a:r>
          </a:p>
          <a:p>
            <a:pPr marL="8032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Strong consistency at row level</a:t>
            </a:r>
          </a:p>
          <a:p>
            <a:pPr marL="8032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Efficient handling of sparse datasets</a:t>
            </a:r>
          </a:p>
          <a:p>
            <a:pPr marL="8032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Works well with Hadoop tools (MapReduce, Spark)</a:t>
            </a:r>
          </a:p>
        </p:txBody>
      </p:sp>
    </p:spTree>
    <p:extLst>
      <p:ext uri="{BB962C8B-B14F-4D97-AF65-F5344CB8AC3E}">
        <p14:creationId xmlns:p14="http://schemas.microsoft.com/office/powerpoint/2010/main" val="1947007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011ADF-43D8-06A1-FC39-6478CB21A113}"/>
              </a:ext>
            </a:extLst>
          </p:cNvPr>
          <p:cNvSpPr txBox="1"/>
          <p:nvPr/>
        </p:nvSpPr>
        <p:spPr>
          <a:xfrm>
            <a:off x="599440" y="2166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b="1" dirty="0"/>
              <a:t>Neo4j</a:t>
            </a:r>
            <a:endParaRPr lang="k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B5252-2F62-E8EE-4E90-422A2C1AEF3D}"/>
              </a:ext>
            </a:extLst>
          </p:cNvPr>
          <p:cNvSpPr txBox="1"/>
          <p:nvPr/>
        </p:nvSpPr>
        <p:spPr>
          <a:xfrm>
            <a:off x="808354" y="862985"/>
            <a:ext cx="66795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Neo4j</a:t>
            </a:r>
            <a:r>
              <a:rPr lang="en-US" dirty="0"/>
              <a:t> is a </a:t>
            </a:r>
            <a:r>
              <a:rPr lang="en-US" b="1" dirty="0"/>
              <a:t>NoSQL, graph-oriented database</a:t>
            </a:r>
            <a:r>
              <a:rPr lang="en-US" dirty="0"/>
              <a:t> that stores data in the form of </a:t>
            </a:r>
            <a:r>
              <a:rPr lang="en-US" b="1" dirty="0"/>
              <a:t>nodes, relationships, and properties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is designed to </a:t>
            </a:r>
            <a:r>
              <a:rPr lang="en-US" b="1" dirty="0"/>
              <a:t>efficiently manage and query relationships</a:t>
            </a:r>
            <a:r>
              <a:rPr lang="en-US" dirty="0"/>
              <a:t> between data.</a:t>
            </a:r>
            <a:endParaRPr lang="k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B0346-707B-EBF8-DBF6-68874E6B73CD}"/>
              </a:ext>
            </a:extLst>
          </p:cNvPr>
          <p:cNvSpPr txBox="1"/>
          <p:nvPr/>
        </p:nvSpPr>
        <p:spPr>
          <a:xfrm>
            <a:off x="944880" y="2574974"/>
            <a:ext cx="7813040" cy="3091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Uses of Neo4j (Why it is Used)</a:t>
            </a:r>
          </a:p>
          <a:p>
            <a:pPr>
              <a:buNone/>
            </a:pPr>
            <a:endParaRPr lang="en-US" sz="2400" b="1" dirty="0"/>
          </a:p>
          <a:p>
            <a:pPr marL="123666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Handles </a:t>
            </a:r>
            <a:r>
              <a:rPr lang="en-US" sz="2000" b="1" dirty="0"/>
              <a:t>highly connected data</a:t>
            </a:r>
            <a:endParaRPr lang="en-US" sz="2000" dirty="0"/>
          </a:p>
          <a:p>
            <a:pPr marL="123666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Provides </a:t>
            </a:r>
            <a:r>
              <a:rPr lang="en-US" sz="2000" b="1" dirty="0"/>
              <a:t>fast relationship traversal</a:t>
            </a:r>
            <a:endParaRPr lang="en-US" sz="2000" dirty="0"/>
          </a:p>
          <a:p>
            <a:pPr marL="123666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Avoids expensive joins used in RDBMS</a:t>
            </a:r>
          </a:p>
          <a:p>
            <a:pPr marL="123666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Supports </a:t>
            </a:r>
            <a:r>
              <a:rPr lang="en-US" sz="2000" b="1" dirty="0"/>
              <a:t>complex relationship-based queries</a:t>
            </a:r>
            <a:endParaRPr lang="en-US" sz="2000" dirty="0"/>
          </a:p>
          <a:p>
            <a:pPr marL="123666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Uses </a:t>
            </a:r>
            <a:r>
              <a:rPr lang="en-US" sz="2000" b="1" dirty="0"/>
              <a:t>Cypher Query Language (CQL)</a:t>
            </a:r>
            <a:endParaRPr lang="en-US" sz="2000" dirty="0"/>
          </a:p>
        </p:txBody>
      </p:sp>
      <p:pic>
        <p:nvPicPr>
          <p:cNvPr id="1026" name="Picture 2" descr="Un)common Use Cases for Graph Databases">
            <a:extLst>
              <a:ext uri="{FF2B5EF4-FFF2-40B4-BE49-F238E27FC236}">
                <a16:creationId xmlns:a16="http://schemas.microsoft.com/office/drawing/2014/main" id="{A14CDED1-CF80-A112-0E6B-838A001F2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354" y="862985"/>
            <a:ext cx="5165725" cy="4432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553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ECDBB6-B52E-CC54-4086-091E0B011131}"/>
              </a:ext>
            </a:extLst>
          </p:cNvPr>
          <p:cNvSpPr txBox="1"/>
          <p:nvPr/>
        </p:nvSpPr>
        <p:spPr>
          <a:xfrm>
            <a:off x="629920" y="248196"/>
            <a:ext cx="7802880" cy="2291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Data Model in Neo4j</a:t>
            </a:r>
          </a:p>
          <a:p>
            <a:pPr>
              <a:buNone/>
            </a:pPr>
            <a:endParaRPr lang="en-US" sz="2800" b="1" dirty="0"/>
          </a:p>
          <a:p>
            <a:pPr marL="985838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Node</a:t>
            </a:r>
            <a:r>
              <a:rPr lang="en-US" sz="2000" dirty="0"/>
              <a:t> → Represents an entity (Person, Product, Place)</a:t>
            </a:r>
          </a:p>
          <a:p>
            <a:pPr marL="985838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Relationship</a:t>
            </a:r>
            <a:r>
              <a:rPr lang="en-US" sz="2000" dirty="0"/>
              <a:t> → Represents connection between nodes</a:t>
            </a:r>
          </a:p>
          <a:p>
            <a:pPr marL="985838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Properties</a:t>
            </a:r>
            <a:r>
              <a:rPr lang="en-US" sz="2000" dirty="0"/>
              <a:t> → Key–value pairs stored in nodes/relationships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687D0-8267-3D50-BD80-241812DB72DD}"/>
              </a:ext>
            </a:extLst>
          </p:cNvPr>
          <p:cNvSpPr txBox="1"/>
          <p:nvPr/>
        </p:nvSpPr>
        <p:spPr>
          <a:xfrm>
            <a:off x="629920" y="297604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/>
              <a:t>Deployment of Neo4j</a:t>
            </a:r>
            <a:endParaRPr lang="kn-IN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081EA7-FFF5-9355-A729-87A45D02E466}"/>
              </a:ext>
            </a:extLst>
          </p:cNvPr>
          <p:cNvSpPr txBox="1"/>
          <p:nvPr/>
        </p:nvSpPr>
        <p:spPr>
          <a:xfrm>
            <a:off x="955040" y="3611324"/>
            <a:ext cx="6096000" cy="1337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1. Standalone Deployment</a:t>
            </a:r>
          </a:p>
          <a:p>
            <a:pPr marL="8032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Single Neo4j server</a:t>
            </a:r>
          </a:p>
          <a:p>
            <a:pPr marL="8032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Used for </a:t>
            </a:r>
            <a:r>
              <a:rPr lang="en-US" sz="2000" b="1" dirty="0"/>
              <a:t>development and small applications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1625CA-EF2D-6333-6C43-DB34DE4AF3B6}"/>
              </a:ext>
            </a:extLst>
          </p:cNvPr>
          <p:cNvSpPr txBox="1"/>
          <p:nvPr/>
        </p:nvSpPr>
        <p:spPr>
          <a:xfrm>
            <a:off x="3677920" y="514425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n-IN" sz="2000" dirty="0" err="1">
                <a:solidFill>
                  <a:srgbClr val="FF0000"/>
                </a:solidFill>
              </a:rPr>
              <a:t>Application</a:t>
            </a:r>
            <a:r>
              <a:rPr lang="kn-IN" sz="2000" dirty="0">
                <a:solidFill>
                  <a:srgbClr val="FF0000"/>
                </a:solidFill>
              </a:rPr>
              <a:t> → Neo4j </a:t>
            </a:r>
            <a:r>
              <a:rPr lang="kn-IN" sz="2000" dirty="0" err="1">
                <a:solidFill>
                  <a:srgbClr val="FF0000"/>
                </a:solidFill>
              </a:rPr>
              <a:t>Server</a:t>
            </a:r>
            <a:endParaRPr lang="kn-I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37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64224-81D3-898F-22D2-D053B04E3F14}"/>
              </a:ext>
            </a:extLst>
          </p:cNvPr>
          <p:cNvSpPr txBox="1"/>
          <p:nvPr/>
        </p:nvSpPr>
        <p:spPr>
          <a:xfrm>
            <a:off x="477520" y="33067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/>
              <a:t>2. Cluster Deployment</a:t>
            </a:r>
            <a:endParaRPr lang="kn-IN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51C742-84B0-8F2F-821A-248C0CF65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520" y="796703"/>
            <a:ext cx="11846560" cy="977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Neo4j </a:t>
            </a: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instances</a:t>
            </a:r>
            <a:endParaRPr kumimoji="0" lang="kn-IN" altLang="kn-I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</a:t>
            </a:r>
            <a:r>
              <a:rPr kumimoji="0" lang="kn-IN" altLang="kn-I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kn-IN" altLang="kn-I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availability</a:t>
            </a:r>
            <a:r>
              <a:rPr kumimoji="0" lang="kn-IN" altLang="kn-I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kn-IN" altLang="kn-I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fault</a:t>
            </a:r>
            <a:r>
              <a:rPr kumimoji="0" lang="kn-IN" altLang="kn-I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tolerance</a:t>
            </a:r>
            <a:endParaRPr kumimoji="0" lang="kn-IN" altLang="kn-I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C6A03-4AE1-6625-03D2-5FD5F3371DAA}"/>
              </a:ext>
            </a:extLst>
          </p:cNvPr>
          <p:cNvSpPr txBox="1"/>
          <p:nvPr/>
        </p:nvSpPr>
        <p:spPr>
          <a:xfrm>
            <a:off x="2517140" y="2060510"/>
            <a:ext cx="66598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n-IN" sz="2000" dirty="0" err="1">
                <a:solidFill>
                  <a:srgbClr val="FF0000"/>
                </a:solidFill>
              </a:rPr>
              <a:t>Application</a:t>
            </a:r>
            <a:endParaRPr lang="kn-IN" sz="2000" dirty="0">
              <a:solidFill>
                <a:srgbClr val="FF0000"/>
              </a:solidFill>
            </a:endParaRPr>
          </a:p>
          <a:p>
            <a:r>
              <a:rPr lang="kn-IN" sz="2000" dirty="0">
                <a:solidFill>
                  <a:srgbClr val="FF0000"/>
                </a:solidFill>
              </a:rPr>
              <a:t>     |</a:t>
            </a:r>
          </a:p>
          <a:p>
            <a:r>
              <a:rPr lang="kn-IN" sz="2000" dirty="0">
                <a:solidFill>
                  <a:srgbClr val="FF0000"/>
                </a:solidFill>
              </a:rPr>
              <a:t>  Neo4j </a:t>
            </a:r>
            <a:r>
              <a:rPr lang="kn-IN" sz="2000" dirty="0" err="1">
                <a:solidFill>
                  <a:srgbClr val="FF0000"/>
                </a:solidFill>
              </a:rPr>
              <a:t>Cluster</a:t>
            </a:r>
            <a:endParaRPr lang="kn-IN" sz="2000" dirty="0">
              <a:solidFill>
                <a:srgbClr val="FF0000"/>
              </a:solidFill>
            </a:endParaRPr>
          </a:p>
          <a:p>
            <a:r>
              <a:rPr lang="kn-IN" sz="2000" dirty="0">
                <a:solidFill>
                  <a:srgbClr val="FF0000"/>
                </a:solidFill>
              </a:rPr>
              <a:t>  /     |     \</a:t>
            </a:r>
          </a:p>
          <a:p>
            <a:r>
              <a:rPr lang="kn-IN" sz="2000" dirty="0">
                <a:solidFill>
                  <a:srgbClr val="FF0000"/>
                </a:solidFill>
              </a:rPr>
              <a:t>Node1  Node2  Node3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0297D7-C0D9-B741-904C-2178FE05AFEB}"/>
              </a:ext>
            </a:extLst>
          </p:cNvPr>
          <p:cNvSpPr txBox="1"/>
          <p:nvPr/>
        </p:nvSpPr>
        <p:spPr>
          <a:xfrm>
            <a:off x="617220" y="3691726"/>
            <a:ext cx="6659880" cy="15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3. Read Replicas</a:t>
            </a:r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Separate nodes for read operations</a:t>
            </a:r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Improves </a:t>
            </a:r>
            <a:r>
              <a:rPr lang="en-US" sz="2400" b="1" dirty="0"/>
              <a:t>read scalability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822A6-F2FD-E75E-1B26-22C1BF97CF82}"/>
              </a:ext>
            </a:extLst>
          </p:cNvPr>
          <p:cNvSpPr txBox="1"/>
          <p:nvPr/>
        </p:nvSpPr>
        <p:spPr>
          <a:xfrm>
            <a:off x="2639060" y="5691965"/>
            <a:ext cx="6416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n-IN" sz="2000" dirty="0" err="1">
                <a:solidFill>
                  <a:srgbClr val="FF0000"/>
                </a:solidFill>
              </a:rPr>
              <a:t>Write</a:t>
            </a:r>
            <a:r>
              <a:rPr lang="kn-IN" sz="2000" dirty="0">
                <a:solidFill>
                  <a:srgbClr val="FF0000"/>
                </a:solidFill>
              </a:rPr>
              <a:t> </a:t>
            </a:r>
            <a:r>
              <a:rPr lang="kn-IN" sz="2000" dirty="0" err="1">
                <a:solidFill>
                  <a:srgbClr val="FF0000"/>
                </a:solidFill>
              </a:rPr>
              <a:t>Node</a:t>
            </a:r>
            <a:r>
              <a:rPr lang="kn-IN" sz="2000" dirty="0">
                <a:solidFill>
                  <a:srgbClr val="FF0000"/>
                </a:solidFill>
              </a:rPr>
              <a:t> → </a:t>
            </a:r>
            <a:r>
              <a:rPr lang="kn-IN" sz="2000" dirty="0" err="1">
                <a:solidFill>
                  <a:srgbClr val="FF0000"/>
                </a:solidFill>
              </a:rPr>
              <a:t>Read</a:t>
            </a:r>
            <a:r>
              <a:rPr lang="kn-IN" sz="2000" dirty="0">
                <a:solidFill>
                  <a:srgbClr val="FF0000"/>
                </a:solidFill>
              </a:rPr>
              <a:t> </a:t>
            </a:r>
            <a:r>
              <a:rPr lang="kn-IN" sz="2000" dirty="0" err="1">
                <a:solidFill>
                  <a:srgbClr val="FF0000"/>
                </a:solidFill>
              </a:rPr>
              <a:t>Replicas</a:t>
            </a:r>
            <a:endParaRPr lang="kn-I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46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716C21-CA44-2D44-4E8E-897E4E40373C}"/>
              </a:ext>
            </a:extLst>
          </p:cNvPr>
          <p:cNvSpPr txBox="1"/>
          <p:nvPr/>
        </p:nvSpPr>
        <p:spPr>
          <a:xfrm>
            <a:off x="386080" y="198458"/>
            <a:ext cx="7203440" cy="4590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Applications of Neo4j</a:t>
            </a:r>
          </a:p>
          <a:p>
            <a:pPr>
              <a:buNone/>
            </a:pPr>
            <a:endParaRPr lang="en-US" sz="40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Social networking applications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Recommendation systems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Fraud detection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Knowledge graphs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Network and IT operations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Routing and path-finding applications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30059-E3DA-9D19-2507-4E77F4CAA350}"/>
              </a:ext>
            </a:extLst>
          </p:cNvPr>
          <p:cNvSpPr txBox="1"/>
          <p:nvPr/>
        </p:nvSpPr>
        <p:spPr>
          <a:xfrm>
            <a:off x="5709920" y="2633117"/>
            <a:ext cx="6096000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Advantages of Neo4j</a:t>
            </a:r>
          </a:p>
          <a:p>
            <a:pPr>
              <a:buNone/>
            </a:pPr>
            <a:endParaRPr lang="en-US" sz="3600" b="1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Extremely fast relationship queries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Intuitive graph data model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High performance for connected data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Easy to model real-world relationships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ACID-compliant transactions</a:t>
            </a:r>
          </a:p>
        </p:txBody>
      </p:sp>
    </p:spTree>
    <p:extLst>
      <p:ext uri="{BB962C8B-B14F-4D97-AF65-F5344CB8AC3E}">
        <p14:creationId xmlns:p14="http://schemas.microsoft.com/office/powerpoint/2010/main" val="345567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19923B-A3AC-8C43-0951-7ACFF15E998B}"/>
              </a:ext>
            </a:extLst>
          </p:cNvPr>
          <p:cNvSpPr txBox="1"/>
          <p:nvPr/>
        </p:nvSpPr>
        <p:spPr>
          <a:xfrm>
            <a:off x="548640" y="450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200" b="1" dirty="0"/>
              <a:t>Aggregate-Oriented Databases </a:t>
            </a:r>
            <a:endParaRPr lang="k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FDBBF3-C82E-3AF0-C65F-396FD5DDD09A}"/>
              </a:ext>
            </a:extLst>
          </p:cNvPr>
          <p:cNvSpPr txBox="1"/>
          <p:nvPr/>
        </p:nvSpPr>
        <p:spPr>
          <a:xfrm>
            <a:off x="1097280" y="1142276"/>
            <a:ext cx="10850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Aggregate-oriented databases</a:t>
            </a:r>
            <a:r>
              <a:rPr lang="en-US" dirty="0"/>
              <a:t> are NoSQL databases that store and manage data as </a:t>
            </a:r>
            <a:r>
              <a:rPr lang="en-US" b="1" dirty="0"/>
              <a:t>aggregates</a:t>
            </a:r>
            <a:r>
              <a:rPr lang="en-US" dirty="0"/>
              <a:t>, where an </a:t>
            </a:r>
            <a:r>
              <a:rPr lang="en-US" b="1" dirty="0"/>
              <a:t>aggregate</a:t>
            </a:r>
            <a:r>
              <a:rPr lang="en-US" dirty="0"/>
              <a:t> is a group of related data that is </a:t>
            </a:r>
            <a:r>
              <a:rPr lang="en-US" b="1" dirty="0"/>
              <a:t>stored, retrieved, and updated as a single unit</a:t>
            </a:r>
            <a:r>
              <a:rPr lang="en-US" dirty="0"/>
              <a:t>.</a:t>
            </a:r>
            <a:endParaRPr lang="k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820ECA-5BE8-AF56-0B15-E4D5BE6BA67F}"/>
              </a:ext>
            </a:extLst>
          </p:cNvPr>
          <p:cNvSpPr txBox="1"/>
          <p:nvPr/>
        </p:nvSpPr>
        <p:spPr>
          <a:xfrm>
            <a:off x="1005840" y="2136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What is an Aggregate?</a:t>
            </a:r>
            <a:endParaRPr lang="k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4F1B1-960A-1E00-9F5B-65379D5FF70C}"/>
              </a:ext>
            </a:extLst>
          </p:cNvPr>
          <p:cNvSpPr txBox="1"/>
          <p:nvPr/>
        </p:nvSpPr>
        <p:spPr>
          <a:xfrm>
            <a:off x="1381760" y="2690336"/>
            <a:ext cx="9997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An </a:t>
            </a:r>
            <a:r>
              <a:rPr lang="en-US" b="1" dirty="0"/>
              <a:t>aggregate</a:t>
            </a:r>
            <a:r>
              <a:rPr lang="en-US" dirty="0"/>
              <a:t> represents data that is commonly accessed together.</a:t>
            </a:r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customer order containing customer details, order items, and payment information stored together as one unit.</a:t>
            </a:r>
          </a:p>
        </p:txBody>
      </p:sp>
      <p:pic>
        <p:nvPicPr>
          <p:cNvPr id="1026" name="Picture 2" descr="Aggregate Oriented Database">
            <a:extLst>
              <a:ext uri="{FF2B5EF4-FFF2-40B4-BE49-F238E27FC236}">
                <a16:creationId xmlns:a16="http://schemas.microsoft.com/office/drawing/2014/main" id="{5E3AB91E-F447-7C38-D414-61F068594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640" y="1345477"/>
            <a:ext cx="5242560" cy="3348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30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FD89AB-A4D6-715D-6C4C-12A374E97C31}"/>
              </a:ext>
            </a:extLst>
          </p:cNvPr>
          <p:cNvSpPr txBox="1"/>
          <p:nvPr/>
        </p:nvSpPr>
        <p:spPr>
          <a:xfrm>
            <a:off x="4704080" y="3429000"/>
            <a:ext cx="6949440" cy="1922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Types of Aggregate-Oriented Databases</a:t>
            </a:r>
          </a:p>
          <a:p>
            <a:pPr marL="72072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Key–Value Stores</a:t>
            </a:r>
            <a:endParaRPr lang="en-US" sz="2000" dirty="0"/>
          </a:p>
          <a:p>
            <a:pPr marL="72072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Document Databases</a:t>
            </a:r>
            <a:endParaRPr lang="en-US" sz="2000" dirty="0"/>
          </a:p>
          <a:p>
            <a:pPr marL="72072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Column-Family Stores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91E52B-4027-2B57-3BF1-12DD552DA145}"/>
              </a:ext>
            </a:extLst>
          </p:cNvPr>
          <p:cNvSpPr txBox="1"/>
          <p:nvPr/>
        </p:nvSpPr>
        <p:spPr>
          <a:xfrm>
            <a:off x="314960" y="4616996"/>
            <a:ext cx="6096000" cy="1922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Advantages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Faster data access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Simple data modeling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High performance and scalability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41246A-762A-B8BF-ED8A-2B58FCC227FE}"/>
              </a:ext>
            </a:extLst>
          </p:cNvPr>
          <p:cNvSpPr txBox="1"/>
          <p:nvPr/>
        </p:nvSpPr>
        <p:spPr>
          <a:xfrm>
            <a:off x="314960" y="107995"/>
            <a:ext cx="6096000" cy="333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Key Characteristics</a:t>
            </a:r>
          </a:p>
          <a:p>
            <a:pPr>
              <a:buNone/>
            </a:pPr>
            <a:endParaRPr lang="en-US" sz="32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Data is handled as </a:t>
            </a:r>
            <a:r>
              <a:rPr lang="en-US" sz="2000" b="1" dirty="0"/>
              <a:t>one complete unit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No complex joins</a:t>
            </a:r>
            <a:r>
              <a:rPr lang="en-US" sz="2000" dirty="0"/>
              <a:t> are required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Uses </a:t>
            </a:r>
            <a:r>
              <a:rPr lang="en-US" sz="2000" b="1" dirty="0"/>
              <a:t>denormalized data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Supports </a:t>
            </a:r>
            <a:r>
              <a:rPr lang="en-US" sz="2000" b="1" dirty="0"/>
              <a:t>horizontal scalability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Well suited for </a:t>
            </a:r>
            <a:r>
              <a:rPr lang="en-US" sz="2000" b="1" dirty="0"/>
              <a:t>distributed systems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4528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128477-5AF3-D153-3388-FEF3B03C25F1}"/>
              </a:ext>
            </a:extLst>
          </p:cNvPr>
          <p:cNvSpPr txBox="1"/>
          <p:nvPr/>
        </p:nvSpPr>
        <p:spPr>
          <a:xfrm>
            <a:off x="792480" y="694174"/>
            <a:ext cx="9083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i="1" dirty="0"/>
              <a:t>Aggregate-Oriented vs Relational (Visual Comparison)</a:t>
            </a:r>
            <a:endParaRPr lang="kn-IN" sz="28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538BF-5ACF-A403-E4BC-182954B3980D}"/>
              </a:ext>
            </a:extLst>
          </p:cNvPr>
          <p:cNvSpPr txBox="1"/>
          <p:nvPr/>
        </p:nvSpPr>
        <p:spPr>
          <a:xfrm>
            <a:off x="1686560" y="1779677"/>
            <a:ext cx="91846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n-IN" sz="2400" b="1" dirty="0" err="1"/>
              <a:t>Relational</a:t>
            </a:r>
            <a:r>
              <a:rPr lang="kn-IN" sz="2400" b="1" dirty="0"/>
              <a:t> </a:t>
            </a:r>
            <a:r>
              <a:rPr lang="kn-IN" sz="2400" b="1" dirty="0" err="1"/>
              <a:t>Database</a:t>
            </a:r>
            <a:r>
              <a:rPr lang="kn-IN" sz="2400" b="1" dirty="0"/>
              <a:t>             </a:t>
            </a:r>
            <a:r>
              <a:rPr lang="en-US" sz="2400" b="1" dirty="0"/>
              <a:t>                      </a:t>
            </a:r>
            <a:r>
              <a:rPr lang="kn-IN" sz="2400" b="1" dirty="0"/>
              <a:t> </a:t>
            </a:r>
            <a:r>
              <a:rPr lang="kn-IN" sz="2000" b="1" dirty="0" err="1"/>
              <a:t>Aggregate-Oriented</a:t>
            </a:r>
            <a:r>
              <a:rPr lang="kn-IN" sz="2000" b="1" dirty="0"/>
              <a:t> </a:t>
            </a:r>
            <a:r>
              <a:rPr lang="kn-IN" sz="2000" b="1" dirty="0" err="1"/>
              <a:t>Database</a:t>
            </a:r>
            <a:endParaRPr lang="kn-IN" sz="2000" b="1" dirty="0"/>
          </a:p>
          <a:p>
            <a:r>
              <a:rPr lang="kn-IN" sz="2000" dirty="0"/>
              <a:t>---------------------           </a:t>
            </a:r>
            <a:r>
              <a:rPr lang="en-US" sz="2000" dirty="0"/>
              <a:t>                                    </a:t>
            </a:r>
            <a:r>
              <a:rPr lang="kn-IN" sz="2000" dirty="0"/>
              <a:t>-----------------------------</a:t>
            </a:r>
            <a:endParaRPr lang="en-US" sz="2000" dirty="0"/>
          </a:p>
          <a:p>
            <a:endParaRPr lang="kn-IN" sz="2000" dirty="0"/>
          </a:p>
          <a:p>
            <a:r>
              <a:rPr lang="kn-IN" sz="2000" dirty="0" err="1"/>
              <a:t>Customer</a:t>
            </a:r>
            <a:r>
              <a:rPr lang="kn-IN" sz="2000" dirty="0"/>
              <a:t> </a:t>
            </a:r>
            <a:r>
              <a:rPr lang="kn-IN" sz="2000" dirty="0" err="1"/>
              <a:t>Table</a:t>
            </a:r>
            <a:r>
              <a:rPr lang="kn-IN" sz="2000" dirty="0"/>
              <a:t>                 </a:t>
            </a:r>
            <a:r>
              <a:rPr lang="en-US" sz="2000" dirty="0"/>
              <a:t>                                          </a:t>
            </a:r>
            <a:r>
              <a:rPr lang="kn-IN" sz="2000" dirty="0"/>
              <a:t> </a:t>
            </a:r>
            <a:r>
              <a:rPr lang="kn-IN" sz="2000" dirty="0" err="1"/>
              <a:t>Order</a:t>
            </a:r>
            <a:r>
              <a:rPr lang="kn-IN" sz="2000" dirty="0"/>
              <a:t> </a:t>
            </a:r>
            <a:r>
              <a:rPr lang="kn-IN" sz="2000" dirty="0" err="1"/>
              <a:t>Aggregate</a:t>
            </a:r>
            <a:endParaRPr lang="kn-IN" sz="2000" dirty="0"/>
          </a:p>
          <a:p>
            <a:r>
              <a:rPr lang="kn-IN" sz="2000" dirty="0" err="1"/>
              <a:t>Order</a:t>
            </a:r>
            <a:r>
              <a:rPr lang="kn-IN" sz="2000" dirty="0"/>
              <a:t> </a:t>
            </a:r>
            <a:r>
              <a:rPr lang="kn-IN" sz="2000" dirty="0" err="1"/>
              <a:t>Table</a:t>
            </a:r>
            <a:r>
              <a:rPr lang="kn-IN" sz="2000" dirty="0"/>
              <a:t>          </a:t>
            </a:r>
            <a:r>
              <a:rPr lang="en-US" sz="2000" dirty="0"/>
              <a:t>                       </a:t>
            </a:r>
            <a:r>
              <a:rPr lang="kn-IN" sz="2000" dirty="0"/>
              <a:t> ----&gt;    </a:t>
            </a:r>
            <a:r>
              <a:rPr lang="en-US" sz="2000" dirty="0"/>
              <a:t>           </a:t>
            </a:r>
            <a:r>
              <a:rPr lang="kn-IN" sz="2000" dirty="0"/>
              <a:t> </a:t>
            </a:r>
            <a:r>
              <a:rPr lang="kn-IN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n-IN" dirty="0" err="1">
                <a:solidFill>
                  <a:schemeClr val="bg1">
                    <a:lumMod val="50000"/>
                  </a:schemeClr>
                </a:solidFill>
              </a:rPr>
              <a:t>Customer</a:t>
            </a:r>
            <a:r>
              <a:rPr lang="kn-IN" dirty="0">
                <a:solidFill>
                  <a:schemeClr val="bg1">
                    <a:lumMod val="50000"/>
                  </a:schemeClr>
                </a:solidFill>
              </a:rPr>
              <a:t> + </a:t>
            </a:r>
            <a:r>
              <a:rPr lang="kn-IN" dirty="0" err="1">
                <a:solidFill>
                  <a:schemeClr val="bg1">
                    <a:lumMod val="50000"/>
                  </a:schemeClr>
                </a:solidFill>
              </a:rPr>
              <a:t>Order</a:t>
            </a:r>
            <a:r>
              <a:rPr lang="kn-IN" dirty="0">
                <a:solidFill>
                  <a:schemeClr val="bg1">
                    <a:lumMod val="50000"/>
                  </a:schemeClr>
                </a:solidFill>
              </a:rPr>
              <a:t> + </a:t>
            </a:r>
            <a:r>
              <a:rPr lang="kn-IN" dirty="0" err="1">
                <a:solidFill>
                  <a:schemeClr val="bg1">
                    <a:lumMod val="50000"/>
                  </a:schemeClr>
                </a:solidFill>
              </a:rPr>
              <a:t>Items</a:t>
            </a:r>
            <a:r>
              <a:rPr lang="kn-IN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r>
              <a:rPr lang="kn-IN" sz="2000" dirty="0" err="1"/>
              <a:t>Items</a:t>
            </a:r>
            <a:r>
              <a:rPr lang="kn-IN" sz="2000" dirty="0"/>
              <a:t> </a:t>
            </a:r>
            <a:r>
              <a:rPr lang="kn-IN" sz="2000" dirty="0" err="1"/>
              <a:t>Table</a:t>
            </a:r>
            <a:r>
              <a:rPr lang="en-US" sz="2000" dirty="0"/>
              <a:t>    </a:t>
            </a:r>
          </a:p>
          <a:p>
            <a:endParaRPr lang="kn-IN" sz="2000" dirty="0"/>
          </a:p>
          <a:p>
            <a:r>
              <a:rPr lang="kn-IN" dirty="0">
                <a:solidFill>
                  <a:srgbClr val="FF0000"/>
                </a:solidFill>
              </a:rPr>
              <a:t>(</a:t>
            </a:r>
            <a:r>
              <a:rPr lang="kn-IN" dirty="0" err="1">
                <a:solidFill>
                  <a:srgbClr val="FF0000"/>
                </a:solidFill>
              </a:rPr>
              <a:t>Multiple</a:t>
            </a:r>
            <a:r>
              <a:rPr lang="kn-IN" dirty="0">
                <a:solidFill>
                  <a:srgbClr val="FF0000"/>
                </a:solidFill>
              </a:rPr>
              <a:t> </a:t>
            </a:r>
            <a:r>
              <a:rPr lang="kn-IN" dirty="0" err="1">
                <a:solidFill>
                  <a:srgbClr val="FF0000"/>
                </a:solidFill>
              </a:rPr>
              <a:t>Joins</a:t>
            </a:r>
            <a:r>
              <a:rPr lang="kn-IN" dirty="0">
                <a:solidFill>
                  <a:srgbClr val="FF0000"/>
                </a:solidFill>
              </a:rPr>
              <a:t>)                </a:t>
            </a:r>
            <a:r>
              <a:rPr lang="en-US" dirty="0">
                <a:solidFill>
                  <a:srgbClr val="FF0000"/>
                </a:solidFill>
              </a:rPr>
              <a:t>                                                         </a:t>
            </a:r>
            <a:r>
              <a:rPr lang="kn-IN" dirty="0">
                <a:solidFill>
                  <a:srgbClr val="FF0000"/>
                </a:solidFill>
              </a:rPr>
              <a:t>(</a:t>
            </a:r>
            <a:r>
              <a:rPr lang="kn-IN" dirty="0" err="1">
                <a:solidFill>
                  <a:srgbClr val="FF0000"/>
                </a:solidFill>
              </a:rPr>
              <a:t>Single</a:t>
            </a:r>
            <a:r>
              <a:rPr lang="kn-IN" dirty="0">
                <a:solidFill>
                  <a:srgbClr val="FF0000"/>
                </a:solidFill>
              </a:rPr>
              <a:t> </a:t>
            </a:r>
            <a:r>
              <a:rPr lang="kn-IN" dirty="0" err="1">
                <a:solidFill>
                  <a:srgbClr val="FF0000"/>
                </a:solidFill>
              </a:rPr>
              <a:t>Read</a:t>
            </a:r>
            <a:r>
              <a:rPr lang="kn-IN" dirty="0">
                <a:solidFill>
                  <a:srgbClr val="FF0000"/>
                </a:solidFill>
              </a:rPr>
              <a:t>)</a:t>
            </a:r>
            <a:endParaRPr lang="kn-I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48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8442A8-3D2D-987D-2B03-6AF8027F8A5B}"/>
              </a:ext>
            </a:extLst>
          </p:cNvPr>
          <p:cNvSpPr txBox="1"/>
          <p:nvPr/>
        </p:nvSpPr>
        <p:spPr>
          <a:xfrm>
            <a:off x="497840" y="26745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200" b="1" dirty="0"/>
              <a:t>Replication and Sharding </a:t>
            </a:r>
            <a:endParaRPr lang="k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0BB859-E5C4-8B92-1548-01520647BD5F}"/>
              </a:ext>
            </a:extLst>
          </p:cNvPr>
          <p:cNvSpPr txBox="1"/>
          <p:nvPr/>
        </p:nvSpPr>
        <p:spPr>
          <a:xfrm>
            <a:off x="995680" y="1421189"/>
            <a:ext cx="762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Definition</a:t>
            </a:r>
          </a:p>
          <a:p>
            <a:pPr>
              <a:buNone/>
            </a:pPr>
            <a:r>
              <a:rPr lang="en-US" b="1" dirty="0"/>
              <a:t>Replication</a:t>
            </a:r>
            <a:r>
              <a:rPr lang="en-US" dirty="0"/>
              <a:t> is the process of </a:t>
            </a:r>
            <a:r>
              <a:rPr lang="en-US" b="1" dirty="0"/>
              <a:t>copying the same data across multiple database nodes</a:t>
            </a:r>
            <a:r>
              <a:rPr lang="en-US" dirty="0"/>
              <a:t> to improve </a:t>
            </a:r>
            <a:r>
              <a:rPr lang="en-US" b="1" dirty="0"/>
              <a:t>availability, fault tolerance, and reliability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9C08DE-3D5F-2783-B668-96F96CF7714D}"/>
              </a:ext>
            </a:extLst>
          </p:cNvPr>
          <p:cNvSpPr txBox="1"/>
          <p:nvPr/>
        </p:nvSpPr>
        <p:spPr>
          <a:xfrm>
            <a:off x="690880" y="10518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dirty="0"/>
              <a:t>Replication</a:t>
            </a:r>
            <a:endParaRPr lang="k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0C029-FAA2-F54C-FBB2-E28A24369BDC}"/>
              </a:ext>
            </a:extLst>
          </p:cNvPr>
          <p:cNvSpPr txBox="1"/>
          <p:nvPr/>
        </p:nvSpPr>
        <p:spPr>
          <a:xfrm>
            <a:off x="995680" y="3665696"/>
            <a:ext cx="6096000" cy="219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Why Replication is Needed</a:t>
            </a:r>
          </a:p>
          <a:p>
            <a:pPr marL="8032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Prevents data loss</a:t>
            </a:r>
          </a:p>
          <a:p>
            <a:pPr marL="8032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Ensures high availability</a:t>
            </a:r>
          </a:p>
          <a:p>
            <a:pPr marL="8032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Supports fault tolerance</a:t>
            </a:r>
          </a:p>
          <a:p>
            <a:pPr marL="8032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Improves read performance</a:t>
            </a:r>
          </a:p>
        </p:txBody>
      </p:sp>
      <p:pic>
        <p:nvPicPr>
          <p:cNvPr id="1026" name="Picture 2" descr="What is Database Replication? Definition &amp; FAQs | ScyllaDB">
            <a:extLst>
              <a:ext uri="{FF2B5EF4-FFF2-40B4-BE49-F238E27FC236}">
                <a16:creationId xmlns:a16="http://schemas.microsoft.com/office/drawing/2014/main" id="{044B5B5F-3A14-6785-81E2-0E8B3D73C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281" y="487680"/>
            <a:ext cx="4815840" cy="346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base Master-Slave Replication in the Cloud | MariaDB">
            <a:extLst>
              <a:ext uri="{FF2B5EF4-FFF2-40B4-BE49-F238E27FC236}">
                <a16:creationId xmlns:a16="http://schemas.microsoft.com/office/drawing/2014/main" id="{CF23B9A8-7185-FA53-E0B4-89F51466C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958" y="3847783"/>
            <a:ext cx="5191442" cy="2928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90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17B02E-3079-127A-1D9A-13CD1E9A331F}"/>
              </a:ext>
            </a:extLst>
          </p:cNvPr>
          <p:cNvSpPr txBox="1"/>
          <p:nvPr/>
        </p:nvSpPr>
        <p:spPr>
          <a:xfrm>
            <a:off x="894080" y="5214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/>
              <a:t>Sharding (Data Sharing / Distribution)</a:t>
            </a:r>
            <a:endParaRPr lang="k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1B1CF5-6169-C86A-22DF-660CD4591E84}"/>
              </a:ext>
            </a:extLst>
          </p:cNvPr>
          <p:cNvSpPr txBox="1"/>
          <p:nvPr/>
        </p:nvSpPr>
        <p:spPr>
          <a:xfrm>
            <a:off x="1320800" y="1189335"/>
            <a:ext cx="8646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Definition</a:t>
            </a:r>
          </a:p>
          <a:p>
            <a:pPr>
              <a:buNone/>
            </a:pPr>
            <a:r>
              <a:rPr lang="en-US" b="1" dirty="0"/>
              <a:t>Sharding</a:t>
            </a:r>
            <a:r>
              <a:rPr lang="en-US" dirty="0"/>
              <a:t> is the process of </a:t>
            </a:r>
            <a:r>
              <a:rPr lang="en-US" b="1" dirty="0"/>
              <a:t>dividing large data into smaller parts (shards)</a:t>
            </a:r>
            <a:r>
              <a:rPr lang="en-US" dirty="0"/>
              <a:t> and distributing them across multiple nodes.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BFB8BC-27E2-85DA-B925-216F1A3357B1}"/>
              </a:ext>
            </a:extLst>
          </p:cNvPr>
          <p:cNvSpPr txBox="1"/>
          <p:nvPr/>
        </p:nvSpPr>
        <p:spPr>
          <a:xfrm>
            <a:off x="1788160" y="2503716"/>
            <a:ext cx="6096000" cy="160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Why Sharding is Needed</a:t>
            </a:r>
          </a:p>
          <a:p>
            <a:pPr marL="53816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Handles large data volumes</a:t>
            </a:r>
          </a:p>
          <a:p>
            <a:pPr marL="53816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Improves scalability</a:t>
            </a:r>
          </a:p>
          <a:p>
            <a:pPr marL="53816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Balances load across servers</a:t>
            </a:r>
          </a:p>
        </p:txBody>
      </p:sp>
      <p:pic>
        <p:nvPicPr>
          <p:cNvPr id="2050" name="Picture 2" descr="Understanding Database Sharding | DigitalOcean">
            <a:extLst>
              <a:ext uri="{FF2B5EF4-FFF2-40B4-BE49-F238E27FC236}">
                <a16:creationId xmlns:a16="http://schemas.microsoft.com/office/drawing/2014/main" id="{AB59B35B-12AB-0244-4362-AAAD7DFDC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689" y="2143442"/>
            <a:ext cx="5268912" cy="3332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196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Understanding MongoDB's Sharding Architecture: A Step-by-Step ...">
            <a:extLst>
              <a:ext uri="{FF2B5EF4-FFF2-40B4-BE49-F238E27FC236}">
                <a16:creationId xmlns:a16="http://schemas.microsoft.com/office/drawing/2014/main" id="{A962C609-7D90-2DD5-30F6-78286423A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645794"/>
            <a:ext cx="10332720" cy="5812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36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F072A7-A09F-B5DA-82EE-4761154AD823}"/>
              </a:ext>
            </a:extLst>
          </p:cNvPr>
          <p:cNvSpPr txBox="1"/>
          <p:nvPr/>
        </p:nvSpPr>
        <p:spPr>
          <a:xfrm>
            <a:off x="609600" y="33857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3200" b="1" i="1" dirty="0"/>
              <a:t>MapReduce on Databases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9BAB4C-2CE0-A794-D851-FE7EEB24AFE7}"/>
              </a:ext>
            </a:extLst>
          </p:cNvPr>
          <p:cNvSpPr txBox="1"/>
          <p:nvPr/>
        </p:nvSpPr>
        <p:spPr>
          <a:xfrm>
            <a:off x="985520" y="962778"/>
            <a:ext cx="99771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MapReduce</a:t>
            </a:r>
            <a:r>
              <a:rPr lang="en-US" sz="2000" dirty="0"/>
              <a:t> is a </a:t>
            </a:r>
            <a:r>
              <a:rPr lang="en-US" sz="2000" b="1" dirty="0"/>
              <a:t>programming and processing model</a:t>
            </a:r>
            <a:r>
              <a:rPr lang="en-US" sz="2000" dirty="0"/>
              <a:t> used to process </a:t>
            </a:r>
            <a:r>
              <a:rPr lang="en-US" sz="2000" b="1" dirty="0"/>
              <a:t>large volumes of data</a:t>
            </a:r>
            <a:r>
              <a:rPr lang="en-US" sz="2000" dirty="0"/>
              <a:t> stored in databases or distributed storage systems by dividing the work into </a:t>
            </a:r>
            <a:r>
              <a:rPr lang="en-US" sz="2000" b="1" dirty="0"/>
              <a:t>Map</a:t>
            </a:r>
            <a:r>
              <a:rPr lang="en-US" sz="2000" dirty="0"/>
              <a:t> and </a:t>
            </a:r>
            <a:r>
              <a:rPr lang="en-US" sz="2000" b="1" dirty="0"/>
              <a:t>Reduce</a:t>
            </a:r>
            <a:r>
              <a:rPr lang="en-US" sz="2000" dirty="0"/>
              <a:t> phases.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It is widely used with </a:t>
            </a:r>
            <a:r>
              <a:rPr lang="en-US" sz="2000" b="1" dirty="0"/>
              <a:t>big data databases</a:t>
            </a:r>
            <a:r>
              <a:rPr lang="en-US" sz="2000" dirty="0"/>
              <a:t> and </a:t>
            </a:r>
            <a:r>
              <a:rPr lang="en-US" sz="2000" b="1" dirty="0"/>
              <a:t>distributed systems</a:t>
            </a:r>
            <a:r>
              <a:rPr lang="en-US" sz="20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7D3299-2E19-DCF2-15E5-BF90BBD7FC77}"/>
              </a:ext>
            </a:extLst>
          </p:cNvPr>
          <p:cNvSpPr txBox="1"/>
          <p:nvPr/>
        </p:nvSpPr>
        <p:spPr>
          <a:xfrm>
            <a:off x="1889760" y="2984976"/>
            <a:ext cx="6096000" cy="2260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Why MapReduce is Used on Databases</a:t>
            </a:r>
          </a:p>
          <a:p>
            <a:pPr marL="893763" indent="-2635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process </a:t>
            </a:r>
            <a:r>
              <a:rPr lang="en-US" sz="2000" b="1" dirty="0"/>
              <a:t>huge datasets efficiently</a:t>
            </a:r>
            <a:endParaRPr lang="en-US" sz="2000" dirty="0"/>
          </a:p>
          <a:p>
            <a:pPr marL="893763" indent="-2635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support </a:t>
            </a:r>
            <a:r>
              <a:rPr lang="en-US" sz="2000" b="1" dirty="0"/>
              <a:t>parallel processing</a:t>
            </a:r>
            <a:endParaRPr lang="en-US" sz="2000" dirty="0"/>
          </a:p>
          <a:p>
            <a:pPr marL="893763" indent="-2635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improve performance on </a:t>
            </a:r>
            <a:r>
              <a:rPr lang="en-US" sz="2000" b="1" dirty="0"/>
              <a:t>distributed data</a:t>
            </a:r>
            <a:endParaRPr lang="en-US" sz="2000" dirty="0"/>
          </a:p>
          <a:p>
            <a:pPr marL="893763" indent="-26352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analyze data stored across multiple nodes</a:t>
            </a:r>
          </a:p>
        </p:txBody>
      </p:sp>
    </p:spTree>
    <p:extLst>
      <p:ext uri="{BB962C8B-B14F-4D97-AF65-F5344CB8AC3E}">
        <p14:creationId xmlns:p14="http://schemas.microsoft.com/office/powerpoint/2010/main" val="168501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apReduce Architecture - GeeksforGeeks">
            <a:extLst>
              <a:ext uri="{FF2B5EF4-FFF2-40B4-BE49-F238E27FC236}">
                <a16:creationId xmlns:a16="http://schemas.microsoft.com/office/drawing/2014/main" id="{D0FE9F8C-B703-C8BC-95C9-19A443ED9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259" y="497840"/>
            <a:ext cx="7271702" cy="5619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147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C1946A-474F-4E53-D3BC-6AC12E235686}"/>
              </a:ext>
            </a:extLst>
          </p:cNvPr>
          <p:cNvSpPr txBox="1"/>
          <p:nvPr/>
        </p:nvSpPr>
        <p:spPr>
          <a:xfrm>
            <a:off x="873760" y="3995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200" b="1" i="1" dirty="0"/>
              <a:t>MapReduce Phases</a:t>
            </a:r>
            <a:endParaRPr lang="kn-IN" sz="32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AC81F-6F50-4DD1-02E8-ADF27C11000C}"/>
              </a:ext>
            </a:extLst>
          </p:cNvPr>
          <p:cNvSpPr txBox="1"/>
          <p:nvPr/>
        </p:nvSpPr>
        <p:spPr>
          <a:xfrm>
            <a:off x="1808480" y="1538516"/>
            <a:ext cx="6096000" cy="1798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1. Map Phase</a:t>
            </a:r>
          </a:p>
          <a:p>
            <a:pPr marL="630238" indent="-2746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Input data is divided into chunks</a:t>
            </a:r>
          </a:p>
          <a:p>
            <a:pPr marL="630238" indent="-2746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Each chunk is processed independently</a:t>
            </a:r>
          </a:p>
          <a:p>
            <a:pPr marL="630238" indent="-2746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Produces </a:t>
            </a:r>
            <a:r>
              <a:rPr lang="en-US" sz="2000" b="1" dirty="0"/>
              <a:t>key–value pairs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2A291E-615B-0F31-B2FE-B1FE0915CCCB}"/>
              </a:ext>
            </a:extLst>
          </p:cNvPr>
          <p:cNvSpPr txBox="1"/>
          <p:nvPr/>
        </p:nvSpPr>
        <p:spPr>
          <a:xfrm>
            <a:off x="3921760" y="3565158"/>
            <a:ext cx="56489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n-IN" dirty="0" err="1">
                <a:solidFill>
                  <a:srgbClr val="FF0000"/>
                </a:solidFill>
              </a:rPr>
              <a:t>Input</a:t>
            </a:r>
            <a:r>
              <a:rPr lang="kn-IN" dirty="0">
                <a:solidFill>
                  <a:srgbClr val="FF0000"/>
                </a:solidFill>
              </a:rPr>
              <a:t>: </a:t>
            </a:r>
            <a:r>
              <a:rPr lang="kn-IN" dirty="0"/>
              <a:t>"</a:t>
            </a:r>
            <a:r>
              <a:rPr lang="kn-IN" dirty="0" err="1"/>
              <a:t>NoSQL</a:t>
            </a:r>
            <a:r>
              <a:rPr lang="kn-IN" dirty="0"/>
              <a:t> </a:t>
            </a:r>
            <a:r>
              <a:rPr lang="kn-IN" dirty="0" err="1"/>
              <a:t>is</a:t>
            </a:r>
            <a:r>
              <a:rPr lang="kn-IN" dirty="0"/>
              <a:t> </a:t>
            </a:r>
            <a:r>
              <a:rPr lang="kn-IN" dirty="0" err="1"/>
              <a:t>scalable</a:t>
            </a:r>
            <a:r>
              <a:rPr lang="kn-IN" dirty="0"/>
              <a:t>“</a:t>
            </a:r>
            <a:endParaRPr lang="en-US" dirty="0"/>
          </a:p>
          <a:p>
            <a:endParaRPr lang="kn-IN" dirty="0"/>
          </a:p>
          <a:p>
            <a:r>
              <a:rPr lang="kn-IN" dirty="0" err="1">
                <a:solidFill>
                  <a:srgbClr val="FF0000"/>
                </a:solidFill>
              </a:rPr>
              <a:t>Map</a:t>
            </a:r>
            <a:r>
              <a:rPr lang="kn-IN" dirty="0">
                <a:solidFill>
                  <a:srgbClr val="FF0000"/>
                </a:solidFill>
              </a:rPr>
              <a:t> </a:t>
            </a:r>
            <a:r>
              <a:rPr lang="kn-IN" dirty="0" err="1">
                <a:solidFill>
                  <a:srgbClr val="FF0000"/>
                </a:solidFill>
              </a:rPr>
              <a:t>Output</a:t>
            </a:r>
            <a:r>
              <a:rPr lang="kn-IN" dirty="0">
                <a:solidFill>
                  <a:srgbClr val="FF0000"/>
                </a:solidFill>
              </a:rPr>
              <a:t>:</a:t>
            </a:r>
          </a:p>
          <a:p>
            <a:r>
              <a:rPr lang="kn-IN" dirty="0"/>
              <a:t>(</a:t>
            </a:r>
            <a:r>
              <a:rPr lang="kn-IN" dirty="0" err="1"/>
              <a:t>NoSQL</a:t>
            </a:r>
            <a:r>
              <a:rPr lang="kn-IN" dirty="0"/>
              <a:t>, 1)</a:t>
            </a:r>
          </a:p>
          <a:p>
            <a:r>
              <a:rPr lang="kn-IN" dirty="0"/>
              <a:t>(</a:t>
            </a:r>
            <a:r>
              <a:rPr lang="kn-IN" dirty="0" err="1"/>
              <a:t>is</a:t>
            </a:r>
            <a:r>
              <a:rPr lang="kn-IN" dirty="0"/>
              <a:t>, 1)</a:t>
            </a:r>
          </a:p>
          <a:p>
            <a:r>
              <a:rPr lang="kn-IN" dirty="0"/>
              <a:t>(</a:t>
            </a:r>
            <a:r>
              <a:rPr lang="kn-IN" dirty="0" err="1"/>
              <a:t>scalable</a:t>
            </a:r>
            <a:r>
              <a:rPr lang="kn-IN" dirty="0"/>
              <a:t>, 1)</a:t>
            </a:r>
          </a:p>
        </p:txBody>
      </p:sp>
    </p:spTree>
    <p:extLst>
      <p:ext uri="{BB962C8B-B14F-4D97-AF65-F5344CB8AC3E}">
        <p14:creationId xmlns:p14="http://schemas.microsoft.com/office/powerpoint/2010/main" val="344227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AF4152-53AD-B34E-713D-3FA6AE6725CA}"/>
              </a:ext>
            </a:extLst>
          </p:cNvPr>
          <p:cNvSpPr txBox="1"/>
          <p:nvPr/>
        </p:nvSpPr>
        <p:spPr>
          <a:xfrm>
            <a:off x="497840" y="21665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2. Shuffle &amp; Sort (Intermediate Step)</a:t>
            </a:r>
            <a:endParaRPr lang="kn-IN" sz="20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B9DFF99-9686-A8F7-FAFF-7520FEDA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040" y="781882"/>
            <a:ext cx="5466080" cy="888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Groups</a:t>
            </a:r>
            <a:r>
              <a:rPr kumimoji="0" lang="kn-IN" altLang="kn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kn-IN" altLang="kn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</a:t>
            </a:r>
            <a:r>
              <a:rPr kumimoji="0" lang="kn-IN" altLang="kn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kn-IN" altLang="kn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endParaRPr kumimoji="0" lang="kn-IN" altLang="kn-I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</a:t>
            </a:r>
            <a:r>
              <a:rPr kumimoji="0" lang="kn-IN" altLang="kn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kumimoji="0" lang="kn-IN" altLang="kn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keys</a:t>
            </a:r>
            <a:r>
              <a:rPr kumimoji="0" lang="kn-IN" altLang="kn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n-IN" altLang="kn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n-IN" altLang="kn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kumimoji="0" lang="kn-IN" altLang="kn-I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reducer</a:t>
            </a:r>
            <a:endParaRPr kumimoji="0" lang="kn-IN" altLang="kn-I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624936-5A48-2369-9F34-274F8BC458EC}"/>
              </a:ext>
            </a:extLst>
          </p:cNvPr>
          <p:cNvSpPr txBox="1"/>
          <p:nvPr/>
        </p:nvSpPr>
        <p:spPr>
          <a:xfrm>
            <a:off x="2692400" y="19540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n-IN" b="1" dirty="0">
                <a:solidFill>
                  <a:srgbClr val="FF0000"/>
                </a:solidFill>
              </a:rPr>
              <a:t>(</a:t>
            </a:r>
            <a:r>
              <a:rPr lang="kn-IN" b="1" dirty="0" err="1">
                <a:solidFill>
                  <a:srgbClr val="FF0000"/>
                </a:solidFill>
              </a:rPr>
              <a:t>NoSQL</a:t>
            </a:r>
            <a:r>
              <a:rPr lang="kn-IN" b="1" dirty="0">
                <a:solidFill>
                  <a:srgbClr val="FF0000"/>
                </a:solidFill>
              </a:rPr>
              <a:t>, [1,1,1])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3233D-581D-2CC2-4E62-3A77E95008F2}"/>
              </a:ext>
            </a:extLst>
          </p:cNvPr>
          <p:cNvSpPr txBox="1"/>
          <p:nvPr/>
        </p:nvSpPr>
        <p:spPr>
          <a:xfrm>
            <a:off x="497840" y="271601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/>
              <a:t>3. Reduce Phase</a:t>
            </a:r>
            <a:endParaRPr lang="kn-IN" sz="2000" b="1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7D471DF-38DD-617C-E785-21FEBB1E4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080" y="3064439"/>
            <a:ext cx="4175760" cy="888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Aggregates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Produces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A916F5-F2D9-D868-7EA2-45D58021DBE2}"/>
              </a:ext>
            </a:extLst>
          </p:cNvPr>
          <p:cNvSpPr txBox="1"/>
          <p:nvPr/>
        </p:nvSpPr>
        <p:spPr>
          <a:xfrm>
            <a:off x="3048000" y="42379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n-IN" b="1" dirty="0">
                <a:solidFill>
                  <a:srgbClr val="FF0000"/>
                </a:solidFill>
              </a:rPr>
              <a:t>(</a:t>
            </a:r>
            <a:r>
              <a:rPr lang="kn-IN" b="1" dirty="0" err="1">
                <a:solidFill>
                  <a:srgbClr val="FF0000"/>
                </a:solidFill>
              </a:rPr>
              <a:t>NoSQL</a:t>
            </a:r>
            <a:r>
              <a:rPr lang="kn-IN" b="1" dirty="0">
                <a:solidFill>
                  <a:srgbClr val="FF0000"/>
                </a:solidFill>
              </a:rPr>
              <a:t>, 3)</a:t>
            </a:r>
          </a:p>
        </p:txBody>
      </p:sp>
    </p:spTree>
    <p:extLst>
      <p:ext uri="{BB962C8B-B14F-4D97-AF65-F5344CB8AC3E}">
        <p14:creationId xmlns:p14="http://schemas.microsoft.com/office/powerpoint/2010/main" val="140666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94F877-649D-D6E4-3E77-AE089284D9AF}"/>
              </a:ext>
            </a:extLst>
          </p:cNvPr>
          <p:cNvSpPr txBox="1"/>
          <p:nvPr/>
        </p:nvSpPr>
        <p:spPr>
          <a:xfrm>
            <a:off x="467360" y="30809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200" b="1" dirty="0"/>
              <a:t>Distributed Models in Databases</a:t>
            </a:r>
            <a:endParaRPr lang="k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5D20C-9195-0015-B862-2579D1C6BFFB}"/>
              </a:ext>
            </a:extLst>
          </p:cNvPr>
          <p:cNvSpPr txBox="1"/>
          <p:nvPr/>
        </p:nvSpPr>
        <p:spPr>
          <a:xfrm>
            <a:off x="1066800" y="892869"/>
            <a:ext cx="7487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Distributed models define </a:t>
            </a:r>
            <a:r>
              <a:rPr lang="en-US" b="1" dirty="0"/>
              <a:t>how data is stored and managed across one or more servers</a:t>
            </a:r>
            <a:r>
              <a:rPr lang="en-US" dirty="0"/>
              <a:t>.</a:t>
            </a:r>
            <a:endParaRPr lang="k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EB083-10CE-9A6E-AFE2-5AB71EF5C976}"/>
              </a:ext>
            </a:extLst>
          </p:cNvPr>
          <p:cNvSpPr txBox="1"/>
          <p:nvPr/>
        </p:nvSpPr>
        <p:spPr>
          <a:xfrm>
            <a:off x="914400" y="193930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/>
              <a:t>1. Single Server Model</a:t>
            </a:r>
            <a:endParaRPr lang="k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D68C58-B1FB-CC10-D419-7C78C82F8B78}"/>
              </a:ext>
            </a:extLst>
          </p:cNvPr>
          <p:cNvSpPr txBox="1"/>
          <p:nvPr/>
        </p:nvSpPr>
        <p:spPr>
          <a:xfrm>
            <a:off x="914400" y="2346156"/>
            <a:ext cx="910336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the </a:t>
            </a:r>
            <a:r>
              <a:rPr lang="en-US" b="1" dirty="0"/>
              <a:t>single server model</a:t>
            </a:r>
            <a:r>
              <a:rPr lang="en-US" dirty="0"/>
              <a:t>, the entire database runs on </a:t>
            </a:r>
            <a:r>
              <a:rPr lang="en-US" b="1" dirty="0"/>
              <a:t>one machine</a:t>
            </a:r>
            <a:r>
              <a:rPr lang="en-US" dirty="0"/>
              <a:t>.</a:t>
            </a:r>
          </a:p>
          <a:p>
            <a:pPr algn="ctr"/>
            <a:r>
              <a:rPr lang="en-US" sz="2000" b="1" dirty="0"/>
              <a:t>or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Single Server Model</a:t>
            </a:r>
            <a:r>
              <a:rPr lang="en-US" dirty="0"/>
              <a:t> is a database architecture in which the </a:t>
            </a:r>
            <a:r>
              <a:rPr lang="en-US" b="1" dirty="0"/>
              <a:t>entire database system runs on a single machine</a:t>
            </a:r>
            <a:r>
              <a:rPr lang="en-US" dirty="0"/>
              <a:t>. All data storage, processing, and query handling are performed by one server.</a:t>
            </a:r>
            <a:endParaRPr lang="k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27568E-059C-5E11-BFD2-405E1D1B440F}"/>
              </a:ext>
            </a:extLst>
          </p:cNvPr>
          <p:cNvSpPr txBox="1"/>
          <p:nvPr/>
        </p:nvSpPr>
        <p:spPr>
          <a:xfrm>
            <a:off x="467360" y="4469208"/>
            <a:ext cx="6096000" cy="208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</a:t>
            </a:r>
            <a:r>
              <a:rPr lang="en-US" sz="2400" b="1" dirty="0"/>
              <a:t>ey Characteristics</a:t>
            </a:r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One server handles </a:t>
            </a:r>
            <a:r>
              <a:rPr lang="en-US" b="1" dirty="0"/>
              <a:t>all read and write operations</a:t>
            </a:r>
            <a:endParaRPr lang="en-US" dirty="0"/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Centralized architecture</a:t>
            </a:r>
            <a:endParaRPr lang="en-US" dirty="0"/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Simple setup and management</a:t>
            </a:r>
          </a:p>
          <a:p>
            <a:pPr marL="720725" indent="-2730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No data distribution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6AFF6C-A5EF-ED19-16C6-87C3050E6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620" y="3785969"/>
            <a:ext cx="4437226" cy="2595562"/>
          </a:xfrm>
          <a:prstGeom prst="rect">
            <a:avLst/>
          </a:prstGeom>
        </p:spPr>
      </p:pic>
      <p:pic>
        <p:nvPicPr>
          <p:cNvPr id="1028" name="Picture 4" descr="Single-Server Calendar Server Architecture (Sun Java ...">
            <a:extLst>
              <a:ext uri="{FF2B5EF4-FFF2-40B4-BE49-F238E27FC236}">
                <a16:creationId xmlns:a16="http://schemas.microsoft.com/office/drawing/2014/main" id="{D5837382-F6B6-28C6-73DD-055D7FEC7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040" y="142954"/>
            <a:ext cx="4594860" cy="338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16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7DFFEB-B651-5B69-27DE-B797D2681B79}"/>
              </a:ext>
            </a:extLst>
          </p:cNvPr>
          <p:cNvSpPr txBox="1"/>
          <p:nvPr/>
        </p:nvSpPr>
        <p:spPr>
          <a:xfrm>
            <a:off x="802640" y="481876"/>
            <a:ext cx="6096000" cy="2157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Limitations</a:t>
            </a:r>
          </a:p>
          <a:p>
            <a:pPr>
              <a:buNone/>
            </a:pPr>
            <a:endParaRPr lang="en-US" sz="2800" b="1" dirty="0"/>
          </a:p>
          <a:p>
            <a:pPr marL="630238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Single point of failure</a:t>
            </a:r>
            <a:endParaRPr lang="en-US" dirty="0"/>
          </a:p>
          <a:p>
            <a:pPr marL="630238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Limited scalability</a:t>
            </a:r>
          </a:p>
          <a:p>
            <a:pPr marL="630238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Performance degrades with high load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A8875-B32C-2067-CB67-A1EAD6F838CE}"/>
              </a:ext>
            </a:extLst>
          </p:cNvPr>
          <p:cNvSpPr txBox="1"/>
          <p:nvPr/>
        </p:nvSpPr>
        <p:spPr>
          <a:xfrm>
            <a:off x="1026160" y="3288228"/>
            <a:ext cx="6096000" cy="186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Use Cases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Small applications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Development and testing environments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Low-traffic systems</a:t>
            </a:r>
          </a:p>
        </p:txBody>
      </p:sp>
    </p:spTree>
    <p:extLst>
      <p:ext uri="{BB962C8B-B14F-4D97-AF65-F5344CB8AC3E}">
        <p14:creationId xmlns:p14="http://schemas.microsoft.com/office/powerpoint/2010/main" val="17905084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7F21E2-2004-7384-DE58-FE4A227DE154}"/>
              </a:ext>
            </a:extLst>
          </p:cNvPr>
          <p:cNvSpPr txBox="1"/>
          <p:nvPr/>
        </p:nvSpPr>
        <p:spPr>
          <a:xfrm>
            <a:off x="345440" y="27761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200" b="1" dirty="0"/>
              <a:t>2. Sharding (Data Partitioning)</a:t>
            </a:r>
            <a:endParaRPr lang="k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1FE5C-AAB3-02E9-31F4-936EA5A271E8}"/>
              </a:ext>
            </a:extLst>
          </p:cNvPr>
          <p:cNvSpPr txBox="1"/>
          <p:nvPr/>
        </p:nvSpPr>
        <p:spPr>
          <a:xfrm>
            <a:off x="782320" y="780807"/>
            <a:ext cx="106273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Definition </a:t>
            </a:r>
          </a:p>
          <a:p>
            <a:r>
              <a:rPr lang="en-US" sz="2000" b="1" dirty="0"/>
              <a:t>Sharding</a:t>
            </a:r>
            <a:r>
              <a:rPr lang="en-US" sz="2000" dirty="0"/>
              <a:t> is a database technique in which </a:t>
            </a:r>
            <a:r>
              <a:rPr lang="en-US" sz="2000" b="1" dirty="0"/>
              <a:t>large datasets are divided into smaller parts called shards</a:t>
            </a:r>
            <a:r>
              <a:rPr lang="en-US" sz="2000" dirty="0"/>
              <a:t>, and each shard is stored on a </a:t>
            </a:r>
            <a:r>
              <a:rPr lang="en-US" sz="2000" b="1" dirty="0"/>
              <a:t>different server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It is used to improve </a:t>
            </a:r>
            <a:r>
              <a:rPr lang="en-US" sz="2000" b="1" dirty="0"/>
              <a:t>scalability and performance</a:t>
            </a:r>
            <a:r>
              <a:rPr lang="en-US" sz="20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00CEE-5C81-283A-A099-72D0BBEC3A48}"/>
              </a:ext>
            </a:extLst>
          </p:cNvPr>
          <p:cNvSpPr txBox="1"/>
          <p:nvPr/>
        </p:nvSpPr>
        <p:spPr>
          <a:xfrm>
            <a:off x="6339840" y="516277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n-IN" dirty="0" err="1">
                <a:solidFill>
                  <a:srgbClr val="FF0000"/>
                </a:solidFill>
              </a:rPr>
              <a:t>Application</a:t>
            </a:r>
            <a:endParaRPr lang="kn-IN" dirty="0">
              <a:solidFill>
                <a:srgbClr val="FF0000"/>
              </a:solidFill>
            </a:endParaRPr>
          </a:p>
          <a:p>
            <a:r>
              <a:rPr lang="kn-IN" dirty="0">
                <a:solidFill>
                  <a:srgbClr val="FF0000"/>
                </a:solidFill>
              </a:rPr>
              <a:t>   |</a:t>
            </a:r>
          </a:p>
          <a:p>
            <a:r>
              <a:rPr lang="kn-IN" dirty="0">
                <a:solidFill>
                  <a:srgbClr val="FF0000"/>
                </a:solidFill>
              </a:rPr>
              <a:t>   ├── </a:t>
            </a:r>
            <a:r>
              <a:rPr lang="kn-IN" dirty="0" err="1">
                <a:solidFill>
                  <a:srgbClr val="FF0000"/>
                </a:solidFill>
              </a:rPr>
              <a:t>Shard</a:t>
            </a:r>
            <a:r>
              <a:rPr lang="kn-IN" dirty="0">
                <a:solidFill>
                  <a:srgbClr val="FF0000"/>
                </a:solidFill>
              </a:rPr>
              <a:t> 1 (</a:t>
            </a:r>
            <a:r>
              <a:rPr lang="kn-IN" dirty="0" err="1">
                <a:solidFill>
                  <a:srgbClr val="FF0000"/>
                </a:solidFill>
              </a:rPr>
              <a:t>Data</a:t>
            </a:r>
            <a:r>
              <a:rPr lang="kn-IN" dirty="0">
                <a:solidFill>
                  <a:srgbClr val="FF0000"/>
                </a:solidFill>
              </a:rPr>
              <a:t> </a:t>
            </a:r>
            <a:r>
              <a:rPr lang="kn-IN" dirty="0" err="1">
                <a:solidFill>
                  <a:srgbClr val="FF0000"/>
                </a:solidFill>
              </a:rPr>
              <a:t>Part</a:t>
            </a:r>
            <a:r>
              <a:rPr lang="kn-IN" dirty="0">
                <a:solidFill>
                  <a:srgbClr val="FF0000"/>
                </a:solidFill>
              </a:rPr>
              <a:t> 1)</a:t>
            </a:r>
          </a:p>
          <a:p>
            <a:r>
              <a:rPr lang="kn-IN" dirty="0">
                <a:solidFill>
                  <a:srgbClr val="FF0000"/>
                </a:solidFill>
              </a:rPr>
              <a:t>   ├── </a:t>
            </a:r>
            <a:r>
              <a:rPr lang="kn-IN" dirty="0" err="1">
                <a:solidFill>
                  <a:srgbClr val="FF0000"/>
                </a:solidFill>
              </a:rPr>
              <a:t>Shard</a:t>
            </a:r>
            <a:r>
              <a:rPr lang="kn-IN" dirty="0">
                <a:solidFill>
                  <a:srgbClr val="FF0000"/>
                </a:solidFill>
              </a:rPr>
              <a:t> 2 (</a:t>
            </a:r>
            <a:r>
              <a:rPr lang="kn-IN" dirty="0" err="1">
                <a:solidFill>
                  <a:srgbClr val="FF0000"/>
                </a:solidFill>
              </a:rPr>
              <a:t>Data</a:t>
            </a:r>
            <a:r>
              <a:rPr lang="kn-IN" dirty="0">
                <a:solidFill>
                  <a:srgbClr val="FF0000"/>
                </a:solidFill>
              </a:rPr>
              <a:t> </a:t>
            </a:r>
            <a:r>
              <a:rPr lang="kn-IN" dirty="0" err="1">
                <a:solidFill>
                  <a:srgbClr val="FF0000"/>
                </a:solidFill>
              </a:rPr>
              <a:t>Part</a:t>
            </a:r>
            <a:r>
              <a:rPr lang="kn-IN" dirty="0">
                <a:solidFill>
                  <a:srgbClr val="FF0000"/>
                </a:solidFill>
              </a:rPr>
              <a:t> 2)</a:t>
            </a:r>
          </a:p>
          <a:p>
            <a:r>
              <a:rPr lang="kn-IN" dirty="0">
                <a:solidFill>
                  <a:srgbClr val="FF0000"/>
                </a:solidFill>
              </a:rPr>
              <a:t>   └── </a:t>
            </a:r>
            <a:r>
              <a:rPr lang="kn-IN" dirty="0" err="1">
                <a:solidFill>
                  <a:srgbClr val="FF0000"/>
                </a:solidFill>
              </a:rPr>
              <a:t>Shard</a:t>
            </a:r>
            <a:r>
              <a:rPr lang="kn-IN" dirty="0">
                <a:solidFill>
                  <a:srgbClr val="FF0000"/>
                </a:solidFill>
              </a:rPr>
              <a:t> 3 (</a:t>
            </a:r>
            <a:r>
              <a:rPr lang="kn-IN" dirty="0" err="1">
                <a:solidFill>
                  <a:srgbClr val="FF0000"/>
                </a:solidFill>
              </a:rPr>
              <a:t>Data</a:t>
            </a:r>
            <a:r>
              <a:rPr lang="kn-IN" dirty="0">
                <a:solidFill>
                  <a:srgbClr val="FF0000"/>
                </a:solidFill>
              </a:rPr>
              <a:t> </a:t>
            </a:r>
            <a:r>
              <a:rPr lang="kn-IN" dirty="0" err="1">
                <a:solidFill>
                  <a:srgbClr val="FF0000"/>
                </a:solidFill>
              </a:rPr>
              <a:t>Part</a:t>
            </a:r>
            <a:r>
              <a:rPr lang="kn-IN" dirty="0">
                <a:solidFill>
                  <a:srgbClr val="FF0000"/>
                </a:solidFill>
              </a:rPr>
              <a:t> 3)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8FB2688-86D1-F5C3-D952-344986384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2131" y="2365857"/>
            <a:ext cx="6989017" cy="2689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Characteristics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horizontally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partitioned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subset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shards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together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Queries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n-IN" altLang="kn-I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shards</a:t>
            </a: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2" descr="Understanding Database Sharding | DigitalOcean">
            <a:extLst>
              <a:ext uri="{FF2B5EF4-FFF2-40B4-BE49-F238E27FC236}">
                <a16:creationId xmlns:a16="http://schemas.microsoft.com/office/drawing/2014/main" id="{D1A7C996-83BB-611A-0E81-195F0D653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88" y="1596415"/>
            <a:ext cx="5268912" cy="3332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65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DBEEFE-F891-8731-18F0-FA8860E83DD9}"/>
              </a:ext>
            </a:extLst>
          </p:cNvPr>
          <p:cNvSpPr txBox="1"/>
          <p:nvPr/>
        </p:nvSpPr>
        <p:spPr>
          <a:xfrm>
            <a:off x="355600" y="2471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/>
              <a:t>3. Master–Slave Replication</a:t>
            </a:r>
            <a:endParaRPr lang="k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504A2-8A7C-5D88-16C1-BE441BABD98A}"/>
              </a:ext>
            </a:extLst>
          </p:cNvPr>
          <p:cNvSpPr txBox="1"/>
          <p:nvPr/>
        </p:nvSpPr>
        <p:spPr>
          <a:xfrm>
            <a:off x="792480" y="931595"/>
            <a:ext cx="11003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Master–Slave Replication</a:t>
            </a:r>
            <a:r>
              <a:rPr lang="en-US" sz="2000" dirty="0"/>
              <a:t> is a database architecture in which </a:t>
            </a:r>
            <a:r>
              <a:rPr lang="en-US" sz="2000" b="1" dirty="0"/>
              <a:t>one master node handles all write operations</a:t>
            </a:r>
            <a:r>
              <a:rPr lang="en-US" sz="2000" dirty="0"/>
              <a:t>, and one or more </a:t>
            </a:r>
            <a:r>
              <a:rPr lang="en-US" sz="2000" b="1" dirty="0"/>
              <a:t>slave nodes replicate data from the master</a:t>
            </a:r>
            <a:r>
              <a:rPr lang="en-US" sz="2000" dirty="0"/>
              <a:t> and handle read operations.</a:t>
            </a:r>
            <a:endParaRPr lang="k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8E3C52-CFB1-557D-D349-47DE7EF6DD48}"/>
              </a:ext>
            </a:extLst>
          </p:cNvPr>
          <p:cNvSpPr txBox="1"/>
          <p:nvPr/>
        </p:nvSpPr>
        <p:spPr>
          <a:xfrm>
            <a:off x="955040" y="1862277"/>
            <a:ext cx="7589520" cy="2629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Key Characteristics</a:t>
            </a:r>
          </a:p>
          <a:p>
            <a:pPr>
              <a:buNone/>
            </a:pPr>
            <a:endParaRPr lang="en-US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Master</a:t>
            </a:r>
            <a:r>
              <a:rPr lang="en-US" sz="2000" dirty="0"/>
              <a:t> performs insert, update, and delete operations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Slaves</a:t>
            </a:r>
            <a:r>
              <a:rPr lang="en-US" sz="2000" dirty="0"/>
              <a:t> maintain copies of master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Data is replicated from master to slaves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Improves read performance</a:t>
            </a:r>
          </a:p>
        </p:txBody>
      </p:sp>
      <p:pic>
        <p:nvPicPr>
          <p:cNvPr id="2050" name="Picture 2" descr="Database Master-Slave Replication in the Cloud | MariaDB">
            <a:extLst>
              <a:ext uri="{FF2B5EF4-FFF2-40B4-BE49-F238E27FC236}">
                <a16:creationId xmlns:a16="http://schemas.microsoft.com/office/drawing/2014/main" id="{56BC4528-DB85-F776-25DA-4BD6D6272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200" y="174337"/>
            <a:ext cx="6654800" cy="3735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ySQL Master-Slave Replication | Download Scientific Diagram">
            <a:extLst>
              <a:ext uri="{FF2B5EF4-FFF2-40B4-BE49-F238E27FC236}">
                <a16:creationId xmlns:a16="http://schemas.microsoft.com/office/drawing/2014/main" id="{3DFE8F2F-8F36-2D2C-25B1-523A98B4E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036" y="189171"/>
            <a:ext cx="8602964" cy="439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45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21CD24-FAED-EBDE-62F8-3974C5477C04}"/>
              </a:ext>
            </a:extLst>
          </p:cNvPr>
          <p:cNvSpPr txBox="1"/>
          <p:nvPr/>
        </p:nvSpPr>
        <p:spPr>
          <a:xfrm>
            <a:off x="965200" y="402719"/>
            <a:ext cx="6096000" cy="4312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Advantages</a:t>
            </a:r>
          </a:p>
          <a:p>
            <a:pPr marL="803275" indent="-2651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High read scalability</a:t>
            </a:r>
          </a:p>
          <a:p>
            <a:pPr marL="803275" indent="-2651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Data redundancy</a:t>
            </a:r>
          </a:p>
          <a:p>
            <a:pPr marL="803275" indent="-2651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Improved availability for read operations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sz="3200" b="1" dirty="0"/>
              <a:t>Limitations</a:t>
            </a:r>
          </a:p>
          <a:p>
            <a:pPr marL="893763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Master is a single point of failure</a:t>
            </a:r>
            <a:endParaRPr lang="en-US" sz="2000" dirty="0"/>
          </a:p>
          <a:p>
            <a:pPr marL="893763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Write scalability is limited</a:t>
            </a:r>
          </a:p>
          <a:p>
            <a:pPr marL="893763" indent="-3556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Replication delay may occur</a:t>
            </a:r>
          </a:p>
        </p:txBody>
      </p:sp>
    </p:spTree>
    <p:extLst>
      <p:ext uri="{BB962C8B-B14F-4D97-AF65-F5344CB8AC3E}">
        <p14:creationId xmlns:p14="http://schemas.microsoft.com/office/powerpoint/2010/main" val="419311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4E8941-62E5-023E-6DBE-E8BCE06E6584}"/>
              </a:ext>
            </a:extLst>
          </p:cNvPr>
          <p:cNvSpPr txBox="1"/>
          <p:nvPr/>
        </p:nvSpPr>
        <p:spPr>
          <a:xfrm>
            <a:off x="416560" y="38937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/>
              <a:t>Peer-to-Peer Replication</a:t>
            </a:r>
            <a:endParaRPr lang="k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613EB-4155-3291-391C-3AAEF37E0C09}"/>
              </a:ext>
            </a:extLst>
          </p:cNvPr>
          <p:cNvSpPr txBox="1"/>
          <p:nvPr/>
        </p:nvSpPr>
        <p:spPr>
          <a:xfrm>
            <a:off x="701040" y="912594"/>
            <a:ext cx="9519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Definition</a:t>
            </a:r>
          </a:p>
          <a:p>
            <a:pPr marL="263525"/>
            <a:r>
              <a:rPr lang="en-US" b="1" dirty="0"/>
              <a:t>Peer-to-Peer Replication</a:t>
            </a:r>
            <a:r>
              <a:rPr lang="en-US" dirty="0"/>
              <a:t> is a database replication model in which </a:t>
            </a:r>
            <a:r>
              <a:rPr lang="en-US" b="1" dirty="0"/>
              <a:t>all nodes are equal</a:t>
            </a:r>
            <a:r>
              <a:rPr lang="en-US" dirty="0"/>
              <a:t> and can </a:t>
            </a:r>
            <a:r>
              <a:rPr lang="en-US" b="1" dirty="0"/>
              <a:t>handle both read and write operations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There is </a:t>
            </a:r>
            <a:r>
              <a:rPr lang="en-US" b="1" dirty="0"/>
              <a:t>no master node</a:t>
            </a:r>
            <a:r>
              <a:rPr lang="en-US" dirty="0"/>
              <a:t>, and data is replicated among all peers.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285418-F490-F909-1D32-4B67E5326546}"/>
              </a:ext>
            </a:extLst>
          </p:cNvPr>
          <p:cNvSpPr txBox="1"/>
          <p:nvPr/>
        </p:nvSpPr>
        <p:spPr>
          <a:xfrm>
            <a:off x="1117600" y="2913142"/>
            <a:ext cx="6096000" cy="2260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Key Characteristics</a:t>
            </a:r>
          </a:p>
          <a:p>
            <a:pPr marL="4476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No master–slave hierarchy</a:t>
            </a:r>
          </a:p>
          <a:p>
            <a:pPr marL="4476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All nodes are </a:t>
            </a:r>
            <a:r>
              <a:rPr lang="en-US" sz="2000" b="1" dirty="0"/>
              <a:t>equal peers</a:t>
            </a:r>
            <a:endParaRPr lang="en-US" sz="2000" dirty="0"/>
          </a:p>
          <a:p>
            <a:pPr marL="4476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Supports </a:t>
            </a:r>
            <a:r>
              <a:rPr lang="en-US" sz="2000" b="1" dirty="0"/>
              <a:t>read and write on any node</a:t>
            </a:r>
            <a:endParaRPr lang="en-US" sz="2000" dirty="0"/>
          </a:p>
          <a:p>
            <a:pPr marL="44767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High availability and fault tolerance</a:t>
            </a:r>
          </a:p>
        </p:txBody>
      </p:sp>
      <p:pic>
        <p:nvPicPr>
          <p:cNvPr id="3074" name="Picture 2" descr="Peer to peer replication">
            <a:extLst>
              <a:ext uri="{FF2B5EF4-FFF2-40B4-BE49-F238E27FC236}">
                <a16:creationId xmlns:a16="http://schemas.microsoft.com/office/drawing/2014/main" id="{EEED5081-18BF-0A6A-16E0-8079B96F3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254" y="152401"/>
            <a:ext cx="6243299" cy="522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93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1B2E88-D4AB-0D1B-830B-FFFBCF502CA3}"/>
              </a:ext>
            </a:extLst>
          </p:cNvPr>
          <p:cNvSpPr txBox="1"/>
          <p:nvPr/>
        </p:nvSpPr>
        <p:spPr>
          <a:xfrm>
            <a:off x="1036320" y="786676"/>
            <a:ext cx="6096000" cy="2157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Advantages</a:t>
            </a:r>
          </a:p>
          <a:p>
            <a:pPr>
              <a:buNone/>
            </a:pPr>
            <a:endParaRPr lang="en-US" sz="2800" b="1" dirty="0"/>
          </a:p>
          <a:p>
            <a:pPr marL="630238" indent="-2746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No single point of failure</a:t>
            </a:r>
          </a:p>
          <a:p>
            <a:pPr marL="630238" indent="-2746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Better availability</a:t>
            </a:r>
          </a:p>
          <a:p>
            <a:pPr marL="630238" indent="-2746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Scales well horizontally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94BB2-C5C1-8AF7-B3E3-1B68A3D6310C}"/>
              </a:ext>
            </a:extLst>
          </p:cNvPr>
          <p:cNvSpPr txBox="1"/>
          <p:nvPr/>
        </p:nvSpPr>
        <p:spPr>
          <a:xfrm>
            <a:off x="1198880" y="3753396"/>
            <a:ext cx="6096000" cy="186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Limitations</a:t>
            </a:r>
          </a:p>
          <a:p>
            <a:pPr marL="8032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Data conflicts may occur</a:t>
            </a:r>
          </a:p>
          <a:p>
            <a:pPr marL="8032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Eventual consistency is common</a:t>
            </a:r>
          </a:p>
          <a:p>
            <a:pPr marL="80327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Complex conflict resolution</a:t>
            </a:r>
          </a:p>
        </p:txBody>
      </p:sp>
    </p:spTree>
    <p:extLst>
      <p:ext uri="{BB962C8B-B14F-4D97-AF65-F5344CB8AC3E}">
        <p14:creationId xmlns:p14="http://schemas.microsoft.com/office/powerpoint/2010/main" val="280122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1. Cassandras Approach to High Availability | Cassandra 3.x ...">
            <a:extLst>
              <a:ext uri="{FF2B5EF4-FFF2-40B4-BE49-F238E27FC236}">
                <a16:creationId xmlns:a16="http://schemas.microsoft.com/office/drawing/2014/main" id="{563F8F6F-033E-1683-644E-BE08F6B6F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042" y="355600"/>
            <a:ext cx="5942476" cy="592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00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35D159-5AE2-9704-8229-8415DA8DD59F}"/>
              </a:ext>
            </a:extLst>
          </p:cNvPr>
          <p:cNvSpPr txBox="1"/>
          <p:nvPr/>
        </p:nvSpPr>
        <p:spPr>
          <a:xfrm>
            <a:off x="650240" y="511294"/>
            <a:ext cx="7762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5. Combination of Sharding and Replication</a:t>
            </a:r>
            <a:endParaRPr lang="k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13DE4-11B2-FA94-1460-2B90F215E1FA}"/>
              </a:ext>
            </a:extLst>
          </p:cNvPr>
          <p:cNvSpPr txBox="1"/>
          <p:nvPr/>
        </p:nvSpPr>
        <p:spPr>
          <a:xfrm>
            <a:off x="1097280" y="1168381"/>
            <a:ext cx="89306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Definition</a:t>
            </a:r>
          </a:p>
          <a:p>
            <a:pPr>
              <a:buNone/>
            </a:pPr>
            <a:r>
              <a:rPr lang="en-US" sz="2000" dirty="0"/>
              <a:t>The </a:t>
            </a:r>
            <a:r>
              <a:rPr lang="en-US" sz="2000" b="1" dirty="0"/>
              <a:t>Combination of Sharding and Replication</a:t>
            </a:r>
            <a:r>
              <a:rPr lang="en-US" sz="2000" dirty="0"/>
              <a:t> is a database architecture where </a:t>
            </a:r>
            <a:r>
              <a:rPr lang="en-US" sz="2000" b="1" dirty="0"/>
              <a:t>data is first divided into shards</a:t>
            </a:r>
            <a:r>
              <a:rPr lang="en-US" sz="2000" dirty="0"/>
              <a:t> (for scalability) and </a:t>
            </a:r>
            <a:r>
              <a:rPr lang="en-US" sz="2000" b="1" dirty="0"/>
              <a:t>each shard is replicated across multiple nodes</a:t>
            </a:r>
            <a:r>
              <a:rPr lang="en-US" sz="2000" dirty="0"/>
              <a:t> (for availability and fault tolerance).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20CB9D-AF4A-D04B-40A5-CA7693F3CB2A}"/>
              </a:ext>
            </a:extLst>
          </p:cNvPr>
          <p:cNvSpPr txBox="1"/>
          <p:nvPr/>
        </p:nvSpPr>
        <p:spPr>
          <a:xfrm>
            <a:off x="944880" y="3429000"/>
            <a:ext cx="6096000" cy="2260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Key Characteristics</a:t>
            </a:r>
          </a:p>
          <a:p>
            <a:pPr marL="630238" indent="-2746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Data is </a:t>
            </a:r>
            <a:r>
              <a:rPr lang="en-US" sz="2000" b="1" dirty="0"/>
              <a:t>partitioned into shards</a:t>
            </a:r>
            <a:endParaRPr lang="en-US" sz="2000" dirty="0"/>
          </a:p>
          <a:p>
            <a:pPr marL="630238" indent="-2746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Each shard has </a:t>
            </a:r>
            <a:r>
              <a:rPr lang="en-US" sz="2000" b="1" dirty="0"/>
              <a:t>multiple replicas</a:t>
            </a:r>
            <a:endParaRPr lang="en-US" sz="2000" dirty="0"/>
          </a:p>
          <a:p>
            <a:pPr marL="630238" indent="-2746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Supports </a:t>
            </a:r>
            <a:r>
              <a:rPr lang="en-US" sz="2000" b="1" dirty="0"/>
              <a:t>horizontal scalability</a:t>
            </a:r>
            <a:endParaRPr lang="en-US" sz="2000" dirty="0"/>
          </a:p>
          <a:p>
            <a:pPr marL="630238" indent="-2746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Provides </a:t>
            </a:r>
            <a:r>
              <a:rPr lang="en-US" sz="2000" b="1" dirty="0"/>
              <a:t>high availability and fault tolerance</a:t>
            </a:r>
            <a:endParaRPr lang="en-US" sz="2000" dirty="0"/>
          </a:p>
        </p:txBody>
      </p:sp>
      <p:pic>
        <p:nvPicPr>
          <p:cNvPr id="5122" name="Picture 2" descr="replication and sharding diagram">
            <a:extLst>
              <a:ext uri="{FF2B5EF4-FFF2-40B4-BE49-F238E27FC236}">
                <a16:creationId xmlns:a16="http://schemas.microsoft.com/office/drawing/2014/main" id="{920D526F-F09C-6B9A-FE1D-1B4FC99A1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355" y="337839"/>
            <a:ext cx="6936065" cy="5067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882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5FBD21-6A77-C045-A862-1EDE6CC24E42}"/>
              </a:ext>
            </a:extLst>
          </p:cNvPr>
          <p:cNvSpPr txBox="1"/>
          <p:nvPr/>
        </p:nvSpPr>
        <p:spPr>
          <a:xfrm>
            <a:off x="1198880" y="162620"/>
            <a:ext cx="7741920" cy="606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Advantages</a:t>
            </a:r>
          </a:p>
          <a:p>
            <a:pPr>
              <a:buNone/>
            </a:pPr>
            <a:endParaRPr lang="en-US" sz="36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Handles very large datasets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No single point of failure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High read and write performance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Suitable for distributed systems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sz="3200" b="1" dirty="0"/>
              <a:t>Limitations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Complex system design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Difficult maintenance and monitoring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Higher storage and operational cost</a:t>
            </a:r>
          </a:p>
        </p:txBody>
      </p:sp>
    </p:spTree>
    <p:extLst>
      <p:ext uri="{BB962C8B-B14F-4D97-AF65-F5344CB8AC3E}">
        <p14:creationId xmlns:p14="http://schemas.microsoft.com/office/powerpoint/2010/main" val="54145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2858</Words>
  <Application>Microsoft Office PowerPoint</Application>
  <PresentationFormat>Widescreen</PresentationFormat>
  <Paragraphs>532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Algerian</vt:lpstr>
      <vt:lpstr>Arial</vt:lpstr>
      <vt:lpstr>Calibri</vt:lpstr>
      <vt:lpstr>Calibri Light</vt:lpstr>
      <vt:lpstr>Wingdings</vt:lpstr>
      <vt:lpstr>Office Theme</vt:lpstr>
      <vt:lpstr>Unit-2</vt:lpstr>
      <vt:lpstr>PowerPoint Presentation</vt:lpstr>
      <vt:lpstr>PowerPoint Presentation</vt:lpstr>
      <vt:lpstr>RDBMS Approach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reddy</dc:creator>
  <cp:lastModifiedBy>ashok reddy</cp:lastModifiedBy>
  <cp:revision>86</cp:revision>
  <dcterms:created xsi:type="dcterms:W3CDTF">2026-01-04T13:11:37Z</dcterms:created>
  <dcterms:modified xsi:type="dcterms:W3CDTF">2026-01-23T06:07:36Z</dcterms:modified>
</cp:coreProperties>
</file>